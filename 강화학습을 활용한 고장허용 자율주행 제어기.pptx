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Gothic A1 Heavy" charset="1" panose="00000000000000000000"/>
      <p:regular r:id="rId30"/>
    </p:embeddedFont>
    <p:embeddedFont>
      <p:font typeface="Open Sans Bold" charset="1" panose="020B0806030504020204"/>
      <p:regular r:id="rId31"/>
    </p:embeddedFont>
    <p:embeddedFont>
      <p:font typeface="Gothic A1 Ultra-Bold" charset="1" panose="00000000000000000000"/>
      <p:regular r:id="rId33"/>
    </p:embeddedFont>
    <p:embeddedFont>
      <p:font typeface="Gothic A1 Bold" charset="1" panose="00000000000000000000"/>
      <p:regular r:id="rId35"/>
    </p:embeddedFont>
    <p:embeddedFont>
      <p:font typeface="Gothic A1 Medium" charset="1" panose="00000000000000000000"/>
      <p:regular r:id="rId39"/>
    </p:embeddedFont>
    <p:embeddedFont>
      <p:font typeface="Open Sans" charset="1" panose="020B0606030504020204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fonts/font46.fntdata" Type="http://schemas.openxmlformats.org/officeDocument/2006/relationships/font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안녕하세요</a:t>
            </a:r>
          </a:p>
          <a:p>
            <a:r>
              <a:rPr lang="en-US"/>
              <a:t>강화학습 기반 고장 상황 대응 자율주행 제어기를 발표할 한양대학교 박성현, 권용우, 임도현 입니다.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발표 목차는 이런 순으로 진행할 예정이고 개발 배경부터 말씀드리겠습니다.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실제 센서가 인지를 못하여 발생한 사례이다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센서 고장이 발생했지만 고장 상황을 인지하지 못 하고 기존 알고리즘대로 작동하여 발생한 사례이다.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RL 기반의 플래너가 rule based 플래너보다 좋은 판단을 한 사례이다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앞 선 사례들로 우리는 문제 상황을 해결하기위해 센서 퓨전 및 고장 허용 알고리즘을 개발할 것이고</a:t>
            </a:r>
          </a:p>
          <a:p>
            <a:r>
              <a:rPr lang="en-US"/>
              <a:t/>
            </a:r>
          </a:p>
          <a:p>
            <a:r>
              <a:rPr lang="en-US"/>
              <a:t>RL 플래너를 설계하여 기존 rule based planner보다 나은 판단을 하는 플래너를 개발할 것이다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앞서 말씀드린 개발 배경 및 방향성에 따라 저흰 이렇게 3가지의 구현 목표를 가지고 연구를 시작하였습니다.</a:t>
            </a:r>
          </a:p>
          <a:p>
            <a:r>
              <a:rPr lang="en-US"/>
              <a:t>1. 다양한 센서 고장 알고리즘 설계 및 검증</a:t>
            </a:r>
          </a:p>
          <a:p>
            <a:r>
              <a:rPr lang="en-US"/>
              <a:t>2. 강화학습 기반 주행 전략 판단</a:t>
            </a:r>
          </a:p>
          <a:p>
            <a:r>
              <a:rPr lang="en-US"/>
              <a:t>3. 판단된 주행 전략에 의한 제어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전체적인 개발 flow chart 는 다음과 같이 진행되었습니다.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먼저 고장 허용 알고리즘 검증 절차에선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다음으로 Agent Training 단계에선 이렇게 다양한 시뮬레이션 환경에 따른 인지, 판단, 제어 절차를 통해 강화학습 에이전트를 학습시켰습니다.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에이전트는 다양한 시뮬레이션 환경에서 학습을 시켰고, 먼저 인지 단계에 대해 설명드리자면, </a:t>
            </a:r>
          </a:p>
          <a:p>
            <a:r>
              <a:rPr lang="en-US"/>
              <a:t>Scenario Reader 블록으로부터 나온 Actors 신호가 Driving Radar Data Generator 블록과 Vision Ditection Generator 블록을 통해 Detection 정보를 뽑아냈습니다. 이러한 정보는 고장판단을 하는 matlab fn 을 통해 카메라가 고장이 날 시 레이더의 detection 정보만 사용하고, 두 센서 모두 정상인 경우 두 센서를 퓨전한 detection 정보를 사용했습니다.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카메라는 기후 조건, 빛 조건, 이물질 등의 위험에 취약하기 때문에 이러한 고장 상황을 대처하기 위해 레이더를 사용했습니다.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초기 보상함수를 측면 오차, 이전 steer 값, 속도 오차, 이전 가속 값 이렇게 4가지 term 위주로 생각하여 설계하였다.</a:t>
            </a:r>
          </a:p>
          <a:p>
            <a:r>
              <a:rPr lang="en-US"/>
              <a:t/>
            </a:r>
          </a:p>
          <a:p>
            <a:r>
              <a:rPr lang="en-US"/>
              <a:t>이후 검증 과정에서</a:t>
            </a:r>
          </a:p>
          <a:p>
            <a:r>
              <a:rPr lang="en-US"/>
              <a:t>lateral error와 velocity error를 추가하였고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</a:p>
          <a:p>
            <a:r>
              <a:rPr lang="en-US"/>
              <a:t> isFail term을 추가하게 되었다.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강화학습의 결과로 Accel 값과 Steer 값이 나와 이 값들을 Bycicle Model - Force Input에 넣어 차량 정보를 뽑아냈습니다.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4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17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2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22.png" Type="http://schemas.openxmlformats.org/officeDocument/2006/relationships/image"/><Relationship Id="rId8" Target="../media/image24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2.jpeg" Type="http://schemas.openxmlformats.org/officeDocument/2006/relationships/image"/><Relationship Id="rId6" Target="../media/VAGut8-ZGyM.mp4" Type="http://schemas.openxmlformats.org/officeDocument/2006/relationships/video"/><Relationship Id="rId7" Target="../media/VAGut8-ZGyM.mp4" Type="http://schemas.microsoft.com/office/2007/relationships/media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32779" y="5839772"/>
            <a:ext cx="6073533" cy="3553017"/>
          </a:xfrm>
          <a:custGeom>
            <a:avLst/>
            <a:gdLst/>
            <a:ahLst/>
            <a:cxnLst/>
            <a:rect r="r" b="b" t="t" l="l"/>
            <a:pathLst>
              <a:path h="3553017" w="6073533">
                <a:moveTo>
                  <a:pt x="0" y="0"/>
                </a:moveTo>
                <a:lnTo>
                  <a:pt x="6073533" y="0"/>
                </a:lnTo>
                <a:lnTo>
                  <a:pt x="6073533" y="3553017"/>
                </a:lnTo>
                <a:lnTo>
                  <a:pt x="0" y="3553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00046" y="1362404"/>
            <a:ext cx="14857095" cy="4892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87"/>
              </a:lnSpc>
            </a:pPr>
            <a:r>
              <a:rPr lang="en-US" sz="8919" spc="-178" b="true">
                <a:solidFill>
                  <a:srgbClr val="0B3B7B"/>
                </a:solidFill>
                <a:latin typeface="Gothic A1 Heavy"/>
                <a:ea typeface="Gothic A1 Heavy"/>
                <a:cs typeface="Gothic A1 Heavy"/>
                <a:sym typeface="Gothic A1 Heavy"/>
              </a:rPr>
              <a:t>강화학습 기반 고장 상황 대응</a:t>
            </a:r>
            <a:r>
              <a:rPr lang="en-US" sz="8919" spc="-178" b="true">
                <a:solidFill>
                  <a:srgbClr val="0B3B7B"/>
                </a:solidFill>
                <a:latin typeface="Gothic A1 Heavy"/>
                <a:ea typeface="Gothic A1 Heavy"/>
                <a:cs typeface="Gothic A1 Heavy"/>
                <a:sym typeface="Gothic A1 Heavy"/>
              </a:rPr>
              <a:t> </a:t>
            </a:r>
          </a:p>
          <a:p>
            <a:pPr algn="l">
              <a:lnSpc>
                <a:spcPts val="12487"/>
              </a:lnSpc>
            </a:pPr>
            <a:r>
              <a:rPr lang="en-US" sz="8919" spc="-178" b="true">
                <a:solidFill>
                  <a:srgbClr val="0B3B7B"/>
                </a:solidFill>
                <a:latin typeface="Gothic A1 Heavy"/>
                <a:ea typeface="Gothic A1 Heavy"/>
                <a:cs typeface="Gothic A1 Heavy"/>
                <a:sym typeface="Gothic A1 Heavy"/>
              </a:rPr>
              <a:t>자율주행 </a:t>
            </a:r>
            <a:r>
              <a:rPr lang="en-US" b="true" sz="8919" spc="-178">
                <a:solidFill>
                  <a:srgbClr val="0B3B7B"/>
                </a:solidFill>
                <a:latin typeface="Gothic A1 Heavy"/>
                <a:ea typeface="Gothic A1 Heavy"/>
                <a:cs typeface="Gothic A1 Heavy"/>
                <a:sym typeface="Gothic A1 Heavy"/>
              </a:rPr>
              <a:t>제어기 </a:t>
            </a:r>
          </a:p>
          <a:p>
            <a:pPr algn="l">
              <a:lnSpc>
                <a:spcPts val="1248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98120" y="6383370"/>
            <a:ext cx="5736506" cy="54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b="true" sz="3172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한양대학교 박성현, 권용우, 임도현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98120" y="5773097"/>
            <a:ext cx="2779737" cy="548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41"/>
              </a:lnSpc>
              <a:spcBef>
                <a:spcPct val="0"/>
              </a:spcBef>
            </a:pPr>
            <a:r>
              <a:rPr lang="en-US" b="true" sz="3172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DriveRL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66901" y="3743579"/>
            <a:ext cx="5575779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sz="3802" spc="-57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개발 배경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66901" y="5381178"/>
            <a:ext cx="5049463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b="true" sz="3802" spc="-5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개발 방향성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266901" y="6946655"/>
            <a:ext cx="5049463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b="true" sz="3802" spc="-5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구현 목표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48711" y="3743579"/>
            <a:ext cx="5264774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b="true" sz="3802" spc="-5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Flow chart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390921"/>
            <a:ext cx="1848842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목차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8711" y="5381178"/>
            <a:ext cx="5264774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sz="3802" spc="-57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기대효과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48711" y="6946655"/>
            <a:ext cx="5264774" cy="646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sz="3802" spc="-57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Toolbox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6000">
            <a:off x="2929774" y="4188425"/>
            <a:ext cx="12428452" cy="3655148"/>
          </a:xfrm>
          <a:custGeom>
            <a:avLst/>
            <a:gdLst/>
            <a:ahLst/>
            <a:cxnLst/>
            <a:rect r="r" b="b" t="t" l="l"/>
            <a:pathLst>
              <a:path h="3655148" w="12428452">
                <a:moveTo>
                  <a:pt x="0" y="21680"/>
                </a:moveTo>
                <a:lnTo>
                  <a:pt x="12422110" y="0"/>
                </a:lnTo>
                <a:lnTo>
                  <a:pt x="12428452" y="3633467"/>
                </a:lnTo>
                <a:lnTo>
                  <a:pt x="6342" y="3655148"/>
                </a:lnTo>
                <a:lnTo>
                  <a:pt x="0" y="21680"/>
                </a:lnTo>
                <a:close/>
              </a:path>
            </a:pathLst>
          </a:custGeom>
          <a:blipFill>
            <a:blip r:embed="rId6"/>
            <a:stretch>
              <a:fillRect l="-444" t="-171" r="-444" b="-171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2298" y="371475"/>
            <a:ext cx="3697724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개발배경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569" y="2370517"/>
            <a:ext cx="5049463" cy="6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강인한 인지부의 부재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459990" y="5267193"/>
            <a:ext cx="8895075" cy="52797"/>
            <a:chOff x="0" y="0"/>
            <a:chExt cx="2113246" cy="12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13246" cy="12543"/>
            </a:xfrm>
            <a:custGeom>
              <a:avLst/>
              <a:gdLst/>
              <a:ahLst/>
              <a:cxnLst/>
              <a:rect r="r" b="b" t="t" l="l"/>
              <a:pathLst>
                <a:path h="12543" w="2113246">
                  <a:moveTo>
                    <a:pt x="0" y="0"/>
                  </a:moveTo>
                  <a:lnTo>
                    <a:pt x="2113246" y="0"/>
                  </a:lnTo>
                  <a:lnTo>
                    <a:pt x="211324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1324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932936" y="5784602"/>
            <a:ext cx="5049463" cy="52797"/>
            <a:chOff x="0" y="0"/>
            <a:chExt cx="1199626" cy="125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9626" cy="12543"/>
            </a:xfrm>
            <a:custGeom>
              <a:avLst/>
              <a:gdLst/>
              <a:ahLst/>
              <a:cxnLst/>
              <a:rect r="r" b="b" t="t" l="l"/>
              <a:pathLst>
                <a:path h="12543" w="1199626">
                  <a:moveTo>
                    <a:pt x="0" y="0"/>
                  </a:moveTo>
                  <a:lnTo>
                    <a:pt x="1199626" y="0"/>
                  </a:lnTo>
                  <a:lnTo>
                    <a:pt x="1199626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9626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644571" y="7261379"/>
            <a:ext cx="6189886" cy="52797"/>
            <a:chOff x="0" y="0"/>
            <a:chExt cx="1470561" cy="1254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0561" cy="12543"/>
            </a:xfrm>
            <a:custGeom>
              <a:avLst/>
              <a:gdLst/>
              <a:ahLst/>
              <a:cxnLst/>
              <a:rect r="r" b="b" t="t" l="l"/>
              <a:pathLst>
                <a:path h="12543" w="1470561">
                  <a:moveTo>
                    <a:pt x="0" y="0"/>
                  </a:moveTo>
                  <a:lnTo>
                    <a:pt x="1470561" y="0"/>
                  </a:lnTo>
                  <a:lnTo>
                    <a:pt x="147056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70561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2298" y="371475"/>
            <a:ext cx="3697724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개발배경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3569" y="2370517"/>
            <a:ext cx="6208362" cy="6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센서 고장시 대처 알고리즘 부재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31005" y="3693791"/>
            <a:ext cx="9825991" cy="5957007"/>
            <a:chOff x="0" y="0"/>
            <a:chExt cx="13101321" cy="79426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01321" cy="7942676"/>
            </a:xfrm>
            <a:custGeom>
              <a:avLst/>
              <a:gdLst/>
              <a:ahLst/>
              <a:cxnLst/>
              <a:rect r="r" b="b" t="t" l="l"/>
              <a:pathLst>
                <a:path h="7942676" w="13101321">
                  <a:moveTo>
                    <a:pt x="0" y="0"/>
                  </a:moveTo>
                  <a:lnTo>
                    <a:pt x="13101321" y="0"/>
                  </a:lnTo>
                  <a:lnTo>
                    <a:pt x="13101321" y="7942676"/>
                  </a:lnTo>
                  <a:lnTo>
                    <a:pt x="0" y="794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334145" y="819972"/>
              <a:ext cx="9823197" cy="66179"/>
              <a:chOff x="0" y="0"/>
              <a:chExt cx="1679457" cy="11315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679457" cy="11315"/>
              </a:xfrm>
              <a:custGeom>
                <a:avLst/>
                <a:gdLst/>
                <a:ahLst/>
                <a:cxnLst/>
                <a:rect r="r" b="b" t="t" l="l"/>
                <a:pathLst>
                  <a:path h="11315" w="1679457">
                    <a:moveTo>
                      <a:pt x="0" y="0"/>
                    </a:moveTo>
                    <a:lnTo>
                      <a:pt x="1679457" y="0"/>
                    </a:lnTo>
                    <a:lnTo>
                      <a:pt x="1679457" y="11315"/>
                    </a:lnTo>
                    <a:lnTo>
                      <a:pt x="0" y="11315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679457" cy="49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1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6225805" y="7044307"/>
              <a:ext cx="6346886" cy="66179"/>
              <a:chOff x="0" y="0"/>
              <a:chExt cx="1085117" cy="11315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85117" cy="11315"/>
              </a:xfrm>
              <a:custGeom>
                <a:avLst/>
                <a:gdLst/>
                <a:ahLst/>
                <a:cxnLst/>
                <a:rect r="r" b="b" t="t" l="l"/>
                <a:pathLst>
                  <a:path h="11315" w="1085117">
                    <a:moveTo>
                      <a:pt x="0" y="0"/>
                    </a:moveTo>
                    <a:lnTo>
                      <a:pt x="1085117" y="0"/>
                    </a:lnTo>
                    <a:lnTo>
                      <a:pt x="1085117" y="11315"/>
                    </a:lnTo>
                    <a:lnTo>
                      <a:pt x="0" y="11315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85117" cy="494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1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334145" y="7616244"/>
              <a:ext cx="4084421" cy="73366"/>
              <a:chOff x="0" y="0"/>
              <a:chExt cx="698307" cy="1254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98307" cy="12543"/>
              </a:xfrm>
              <a:custGeom>
                <a:avLst/>
                <a:gdLst/>
                <a:ahLst/>
                <a:cxnLst/>
                <a:rect r="r" b="b" t="t" l="l"/>
                <a:pathLst>
                  <a:path h="12543" w="698307">
                    <a:moveTo>
                      <a:pt x="0" y="0"/>
                    </a:moveTo>
                    <a:lnTo>
                      <a:pt x="698307" y="0"/>
                    </a:lnTo>
                    <a:lnTo>
                      <a:pt x="698307" y="12543"/>
                    </a:lnTo>
                    <a:lnTo>
                      <a:pt x="0" y="12543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98307" cy="506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01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871360" y="4656527"/>
            <a:ext cx="12006860" cy="3106775"/>
          </a:xfrm>
          <a:custGeom>
            <a:avLst/>
            <a:gdLst/>
            <a:ahLst/>
            <a:cxnLst/>
            <a:rect r="r" b="b" t="t" l="l"/>
            <a:pathLst>
              <a:path h="3106775" w="12006860">
                <a:moveTo>
                  <a:pt x="0" y="0"/>
                </a:moveTo>
                <a:lnTo>
                  <a:pt x="12006860" y="0"/>
                </a:lnTo>
                <a:lnTo>
                  <a:pt x="12006860" y="3106775"/>
                </a:lnTo>
                <a:lnTo>
                  <a:pt x="0" y="310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673001" y="7085902"/>
            <a:ext cx="9185582" cy="47625"/>
            <a:chOff x="0" y="0"/>
            <a:chExt cx="2093927" cy="1085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93926" cy="10856"/>
            </a:xfrm>
            <a:custGeom>
              <a:avLst/>
              <a:gdLst/>
              <a:ahLst/>
              <a:cxnLst/>
              <a:rect r="r" b="b" t="t" l="l"/>
              <a:pathLst>
                <a:path h="10856" w="2093926">
                  <a:moveTo>
                    <a:pt x="0" y="0"/>
                  </a:moveTo>
                  <a:lnTo>
                    <a:pt x="2093926" y="0"/>
                  </a:lnTo>
                  <a:lnTo>
                    <a:pt x="2093926" y="10856"/>
                  </a:lnTo>
                  <a:lnTo>
                    <a:pt x="0" y="10856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93927" cy="48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546482" y="7516890"/>
            <a:ext cx="2656616" cy="55024"/>
            <a:chOff x="0" y="0"/>
            <a:chExt cx="605597" cy="125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5597" cy="12543"/>
            </a:xfrm>
            <a:custGeom>
              <a:avLst/>
              <a:gdLst/>
              <a:ahLst/>
              <a:cxnLst/>
              <a:rect r="r" b="b" t="t" l="l"/>
              <a:pathLst>
                <a:path h="12543" w="605597">
                  <a:moveTo>
                    <a:pt x="0" y="0"/>
                  </a:moveTo>
                  <a:lnTo>
                    <a:pt x="605597" y="0"/>
                  </a:lnTo>
                  <a:lnTo>
                    <a:pt x="605597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05597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12298" y="371475"/>
            <a:ext cx="3697724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개발배경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13569" y="2370517"/>
            <a:ext cx="9648333" cy="1256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검증된 강화학습 기반의 플래너 설계 및 적용</a:t>
            </a:r>
          </a:p>
          <a:p>
            <a:pPr algn="l" marL="734620" indent="-367310" lvl="1">
              <a:lnSpc>
                <a:spcPts val="4763"/>
              </a:lnSpc>
              <a:buFont typeface="Arial"/>
              <a:buChar char="•"/>
            </a:pPr>
            <a:r>
              <a:rPr lang="en-US" b="true" sz="3402" spc="-51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기존 rule based 플래너에서는 불가능한 판단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106345" y="4960302"/>
            <a:ext cx="4818664" cy="4613860"/>
          </a:xfrm>
          <a:custGeom>
            <a:avLst/>
            <a:gdLst/>
            <a:ahLst/>
            <a:cxnLst/>
            <a:rect r="r" b="b" t="t" l="l"/>
            <a:pathLst>
              <a:path h="4613860" w="4818664">
                <a:moveTo>
                  <a:pt x="0" y="0"/>
                </a:moveTo>
                <a:lnTo>
                  <a:pt x="4818664" y="0"/>
                </a:lnTo>
                <a:lnTo>
                  <a:pt x="4818664" y="4613860"/>
                </a:lnTo>
                <a:lnTo>
                  <a:pt x="0" y="4613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47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75284" y="3201320"/>
            <a:ext cx="6420828" cy="2066191"/>
            <a:chOff x="0" y="0"/>
            <a:chExt cx="1691082" cy="54418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91082" cy="544182"/>
            </a:xfrm>
            <a:custGeom>
              <a:avLst/>
              <a:gdLst/>
              <a:ahLst/>
              <a:cxnLst/>
              <a:rect r="r" b="b" t="t" l="l"/>
              <a:pathLst>
                <a:path h="544182" w="1691082">
                  <a:moveTo>
                    <a:pt x="18086" y="0"/>
                  </a:moveTo>
                  <a:lnTo>
                    <a:pt x="1672996" y="0"/>
                  </a:lnTo>
                  <a:cubicBezTo>
                    <a:pt x="1682985" y="0"/>
                    <a:pt x="1691082" y="8097"/>
                    <a:pt x="1691082" y="18086"/>
                  </a:cubicBezTo>
                  <a:lnTo>
                    <a:pt x="1691082" y="526096"/>
                  </a:lnTo>
                  <a:cubicBezTo>
                    <a:pt x="1691082" y="536084"/>
                    <a:pt x="1682985" y="544182"/>
                    <a:pt x="1672996" y="544182"/>
                  </a:cubicBezTo>
                  <a:lnTo>
                    <a:pt x="18086" y="544182"/>
                  </a:lnTo>
                  <a:cubicBezTo>
                    <a:pt x="8097" y="544182"/>
                    <a:pt x="0" y="536084"/>
                    <a:pt x="0" y="526096"/>
                  </a:cubicBezTo>
                  <a:lnTo>
                    <a:pt x="0" y="18086"/>
                  </a:lnTo>
                  <a:cubicBezTo>
                    <a:pt x="0" y="8097"/>
                    <a:pt x="8097" y="0"/>
                    <a:pt x="18086" y="0"/>
                  </a:cubicBezTo>
                  <a:close/>
                </a:path>
              </a:pathLst>
            </a:custGeom>
            <a:solidFill>
              <a:srgbClr val="E3F2F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691082" cy="582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421151" y="2046351"/>
            <a:ext cx="4189053" cy="2866326"/>
          </a:xfrm>
          <a:custGeom>
            <a:avLst/>
            <a:gdLst/>
            <a:ahLst/>
            <a:cxnLst/>
            <a:rect r="r" b="b" t="t" l="l"/>
            <a:pathLst>
              <a:path h="2866326" w="4189053">
                <a:moveTo>
                  <a:pt x="0" y="0"/>
                </a:moveTo>
                <a:lnTo>
                  <a:pt x="4189053" y="0"/>
                </a:lnTo>
                <a:lnTo>
                  <a:pt x="4189053" y="2866326"/>
                </a:lnTo>
                <a:lnTo>
                  <a:pt x="0" y="28663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57389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372475" y="3503809"/>
            <a:ext cx="1543050" cy="15430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87057" y="6836806"/>
            <a:ext cx="6420828" cy="2066191"/>
            <a:chOff x="0" y="0"/>
            <a:chExt cx="1691082" cy="5441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691082" cy="544182"/>
            </a:xfrm>
            <a:custGeom>
              <a:avLst/>
              <a:gdLst/>
              <a:ahLst/>
              <a:cxnLst/>
              <a:rect r="r" b="b" t="t" l="l"/>
              <a:pathLst>
                <a:path h="544182" w="1691082">
                  <a:moveTo>
                    <a:pt x="18086" y="0"/>
                  </a:moveTo>
                  <a:lnTo>
                    <a:pt x="1672996" y="0"/>
                  </a:lnTo>
                  <a:cubicBezTo>
                    <a:pt x="1682985" y="0"/>
                    <a:pt x="1691082" y="8097"/>
                    <a:pt x="1691082" y="18086"/>
                  </a:cubicBezTo>
                  <a:lnTo>
                    <a:pt x="1691082" y="526096"/>
                  </a:lnTo>
                  <a:cubicBezTo>
                    <a:pt x="1691082" y="536084"/>
                    <a:pt x="1682985" y="544182"/>
                    <a:pt x="1672996" y="544182"/>
                  </a:cubicBezTo>
                  <a:lnTo>
                    <a:pt x="18086" y="544182"/>
                  </a:lnTo>
                  <a:cubicBezTo>
                    <a:pt x="8097" y="544182"/>
                    <a:pt x="0" y="536084"/>
                    <a:pt x="0" y="526096"/>
                  </a:cubicBezTo>
                  <a:lnTo>
                    <a:pt x="0" y="18086"/>
                  </a:lnTo>
                  <a:cubicBezTo>
                    <a:pt x="0" y="8097"/>
                    <a:pt x="8097" y="0"/>
                    <a:pt x="18086" y="0"/>
                  </a:cubicBezTo>
                  <a:close/>
                </a:path>
              </a:pathLst>
            </a:custGeom>
            <a:solidFill>
              <a:srgbClr val="E3F2F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691082" cy="5822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84248" y="7139295"/>
            <a:ext cx="1543050" cy="154305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190636" y="2992339"/>
            <a:ext cx="6650083" cy="6265961"/>
            <a:chOff x="0" y="0"/>
            <a:chExt cx="1751462" cy="165029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51462" cy="1650294"/>
            </a:xfrm>
            <a:custGeom>
              <a:avLst/>
              <a:gdLst/>
              <a:ahLst/>
              <a:cxnLst/>
              <a:rect r="r" b="b" t="t" l="l"/>
              <a:pathLst>
                <a:path h="1650294" w="1751462">
                  <a:moveTo>
                    <a:pt x="17463" y="0"/>
                  </a:moveTo>
                  <a:lnTo>
                    <a:pt x="1734000" y="0"/>
                  </a:lnTo>
                  <a:cubicBezTo>
                    <a:pt x="1743644" y="0"/>
                    <a:pt x="1751462" y="7818"/>
                    <a:pt x="1751462" y="17463"/>
                  </a:cubicBezTo>
                  <a:lnTo>
                    <a:pt x="1751462" y="1632832"/>
                  </a:lnTo>
                  <a:cubicBezTo>
                    <a:pt x="1751462" y="1642476"/>
                    <a:pt x="1743644" y="1650294"/>
                    <a:pt x="1734000" y="1650294"/>
                  </a:cubicBezTo>
                  <a:lnTo>
                    <a:pt x="17463" y="1650294"/>
                  </a:lnTo>
                  <a:cubicBezTo>
                    <a:pt x="7818" y="1650294"/>
                    <a:pt x="0" y="1642476"/>
                    <a:pt x="0" y="1632832"/>
                  </a:cubicBezTo>
                  <a:lnTo>
                    <a:pt x="0" y="17463"/>
                  </a:lnTo>
                  <a:cubicBezTo>
                    <a:pt x="0" y="7818"/>
                    <a:pt x="7818" y="0"/>
                    <a:pt x="174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51462" cy="168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75284" y="3300982"/>
            <a:ext cx="6654009" cy="233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441" indent="-345720" lvl="1">
              <a:lnSpc>
                <a:spcPts val="4483"/>
              </a:lnSpc>
              <a:buFont typeface="Arial"/>
              <a:buChar char="•"/>
            </a:pPr>
            <a:r>
              <a:rPr lang="en-US" b="true" sz="3202" spc="-48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강인한 인지부 부재</a:t>
            </a:r>
          </a:p>
          <a:p>
            <a:pPr algn="l">
              <a:lnSpc>
                <a:spcPts val="4483"/>
              </a:lnSpc>
            </a:pPr>
          </a:p>
          <a:p>
            <a:pPr algn="l" marL="691441" indent="-345720" lvl="1">
              <a:lnSpc>
                <a:spcPts val="4483"/>
              </a:lnSpc>
              <a:buFont typeface="Arial"/>
              <a:buChar char="•"/>
            </a:pPr>
            <a:r>
              <a:rPr lang="en-US" b="true" sz="3202" spc="-48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노이즈 및 고장 판단 기준 부재</a:t>
            </a:r>
          </a:p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  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13569" y="498549"/>
            <a:ext cx="480953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개발 방향성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342185" y="5038725"/>
            <a:ext cx="6346984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22C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센서 퓨전 및 고장 허용 알고리즘 검증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05938" y="2301558"/>
            <a:ext cx="1917161" cy="6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문제 상황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8870" y="2301558"/>
            <a:ext cx="1917161" cy="6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개발 방향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13553" y="6922836"/>
            <a:ext cx="6394332" cy="2335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441" indent="-345720" lvl="1">
              <a:lnSpc>
                <a:spcPts val="4483"/>
              </a:lnSpc>
              <a:buFont typeface="Arial"/>
              <a:buChar char="•"/>
            </a:pPr>
            <a:r>
              <a:rPr lang="en-US" b="true" sz="3202" spc="-48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Rule based 플래너에서는 판단 불가능한 사례  </a:t>
            </a:r>
          </a:p>
          <a:p>
            <a:pPr algn="l" marL="691441" indent="-345720" lvl="1">
              <a:lnSpc>
                <a:spcPts val="4483"/>
              </a:lnSpc>
              <a:buFont typeface="Arial"/>
              <a:buChar char="•"/>
            </a:pPr>
            <a:r>
              <a:rPr lang="en-US" b="true" sz="3202" spc="-48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RL 플래너의 검증된 사례</a:t>
            </a:r>
          </a:p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    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12829" y="8481488"/>
            <a:ext cx="4429244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22C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강화학습 기반 플래너 설계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118334" y="5969821"/>
            <a:ext cx="2921947" cy="65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3"/>
              </a:lnSpc>
            </a:pPr>
            <a:r>
              <a:rPr lang="en-US" sz="3402" spc="-51" b="true">
                <a:solidFill>
                  <a:srgbClr val="0B3B7B"/>
                </a:solidFill>
                <a:latin typeface="Gothic A1 Bold"/>
                <a:ea typeface="Gothic A1 Bold"/>
                <a:cs typeface="Gothic A1 Bold"/>
                <a:sym typeface="Gothic A1 Bold"/>
              </a:rPr>
              <a:t>검증된 RL 적용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18605" y="371475"/>
            <a:ext cx="3885109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구현 목표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5197" y="3445598"/>
            <a:ext cx="706913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다양한 센서 고장 알고리즘 설계 및 검증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5059" y="5412193"/>
            <a:ext cx="536237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강화학습 기반 주행 전략 판단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5059" y="7373915"/>
            <a:ext cx="5362099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판단된 주행 전략에 의한 제어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310051" y="4714211"/>
            <a:ext cx="3242779" cy="1291198"/>
            <a:chOff x="0" y="0"/>
            <a:chExt cx="949035" cy="3778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7883"/>
            </a:xfrm>
            <a:custGeom>
              <a:avLst/>
              <a:gdLst/>
              <a:ahLst/>
              <a:cxnLst/>
              <a:rect r="r" b="b" t="t" l="l"/>
              <a:pathLst>
                <a:path h="377883" w="949035">
                  <a:moveTo>
                    <a:pt x="40586" y="0"/>
                  </a:moveTo>
                  <a:lnTo>
                    <a:pt x="908449" y="0"/>
                  </a:lnTo>
                  <a:cubicBezTo>
                    <a:pt x="919213" y="0"/>
                    <a:pt x="929536" y="4276"/>
                    <a:pt x="937148" y="11887"/>
                  </a:cubicBezTo>
                  <a:cubicBezTo>
                    <a:pt x="944759" y="19499"/>
                    <a:pt x="949035" y="29822"/>
                    <a:pt x="949035" y="40586"/>
                  </a:cubicBezTo>
                  <a:lnTo>
                    <a:pt x="949035" y="337297"/>
                  </a:lnTo>
                  <a:cubicBezTo>
                    <a:pt x="949035" y="348061"/>
                    <a:pt x="944759" y="358385"/>
                    <a:pt x="937148" y="365996"/>
                  </a:cubicBezTo>
                  <a:cubicBezTo>
                    <a:pt x="929536" y="373607"/>
                    <a:pt x="919213" y="377883"/>
                    <a:pt x="908449" y="377883"/>
                  </a:cubicBezTo>
                  <a:lnTo>
                    <a:pt x="40586" y="377883"/>
                  </a:lnTo>
                  <a:cubicBezTo>
                    <a:pt x="29822" y="377883"/>
                    <a:pt x="19499" y="373607"/>
                    <a:pt x="11887" y="365996"/>
                  </a:cubicBezTo>
                  <a:cubicBezTo>
                    <a:pt x="4276" y="358385"/>
                    <a:pt x="0" y="348061"/>
                    <a:pt x="0" y="337297"/>
                  </a:cubicBezTo>
                  <a:lnTo>
                    <a:pt x="0" y="40586"/>
                  </a:lnTo>
                  <a:cubicBezTo>
                    <a:pt x="0" y="29822"/>
                    <a:pt x="4276" y="19499"/>
                    <a:pt x="11887" y="11887"/>
                  </a:cubicBezTo>
                  <a:cubicBezTo>
                    <a:pt x="19499" y="4276"/>
                    <a:pt x="29822" y="0"/>
                    <a:pt x="40586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35033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sz="2500" b="tru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</a:t>
              </a:r>
            </a:p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검증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20716" y="4714211"/>
            <a:ext cx="3242779" cy="1291198"/>
            <a:chOff x="0" y="0"/>
            <a:chExt cx="949035" cy="3778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7883"/>
            </a:xfrm>
            <a:custGeom>
              <a:avLst/>
              <a:gdLst/>
              <a:ahLst/>
              <a:cxnLst/>
              <a:rect r="r" b="b" t="t" l="l"/>
              <a:pathLst>
                <a:path h="377883" w="949035">
                  <a:moveTo>
                    <a:pt x="40586" y="0"/>
                  </a:moveTo>
                  <a:lnTo>
                    <a:pt x="908449" y="0"/>
                  </a:lnTo>
                  <a:cubicBezTo>
                    <a:pt x="919213" y="0"/>
                    <a:pt x="929536" y="4276"/>
                    <a:pt x="937148" y="11887"/>
                  </a:cubicBezTo>
                  <a:cubicBezTo>
                    <a:pt x="944759" y="19499"/>
                    <a:pt x="949035" y="29822"/>
                    <a:pt x="949035" y="40586"/>
                  </a:cubicBezTo>
                  <a:lnTo>
                    <a:pt x="949035" y="337297"/>
                  </a:lnTo>
                  <a:cubicBezTo>
                    <a:pt x="949035" y="348061"/>
                    <a:pt x="944759" y="358385"/>
                    <a:pt x="937148" y="365996"/>
                  </a:cubicBezTo>
                  <a:cubicBezTo>
                    <a:pt x="929536" y="373607"/>
                    <a:pt x="919213" y="377883"/>
                    <a:pt x="908449" y="377883"/>
                  </a:cubicBezTo>
                  <a:lnTo>
                    <a:pt x="40586" y="377883"/>
                  </a:lnTo>
                  <a:cubicBezTo>
                    <a:pt x="29822" y="377883"/>
                    <a:pt x="19499" y="373607"/>
                    <a:pt x="11887" y="365996"/>
                  </a:cubicBezTo>
                  <a:cubicBezTo>
                    <a:pt x="4276" y="358385"/>
                    <a:pt x="0" y="348061"/>
                    <a:pt x="0" y="337297"/>
                  </a:cubicBezTo>
                  <a:lnTo>
                    <a:pt x="0" y="40586"/>
                  </a:lnTo>
                  <a:cubicBezTo>
                    <a:pt x="0" y="29822"/>
                    <a:pt x="4276" y="19499"/>
                    <a:pt x="11887" y="11887"/>
                  </a:cubicBezTo>
                  <a:cubicBezTo>
                    <a:pt x="19499" y="4276"/>
                    <a:pt x="29822" y="0"/>
                    <a:pt x="40586" y="0"/>
                  </a:cubicBezTo>
                  <a:close/>
                </a:path>
              </a:pathLst>
            </a:custGeom>
            <a:solidFill>
              <a:srgbClr val="0B3B7B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35033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</a:t>
              </a:r>
              <a:r>
                <a:rPr lang="en-US" b="true" sz="25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gent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735170" y="4714211"/>
            <a:ext cx="3242779" cy="1291198"/>
            <a:chOff x="0" y="0"/>
            <a:chExt cx="949035" cy="3778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035" cy="377883"/>
            </a:xfrm>
            <a:custGeom>
              <a:avLst/>
              <a:gdLst/>
              <a:ahLst/>
              <a:cxnLst/>
              <a:rect r="r" b="b" t="t" l="l"/>
              <a:pathLst>
                <a:path h="377883" w="949035">
                  <a:moveTo>
                    <a:pt x="40586" y="0"/>
                  </a:moveTo>
                  <a:lnTo>
                    <a:pt x="908449" y="0"/>
                  </a:lnTo>
                  <a:cubicBezTo>
                    <a:pt x="919213" y="0"/>
                    <a:pt x="929536" y="4276"/>
                    <a:pt x="937148" y="11887"/>
                  </a:cubicBezTo>
                  <a:cubicBezTo>
                    <a:pt x="944759" y="19499"/>
                    <a:pt x="949035" y="29822"/>
                    <a:pt x="949035" y="40586"/>
                  </a:cubicBezTo>
                  <a:lnTo>
                    <a:pt x="949035" y="337297"/>
                  </a:lnTo>
                  <a:cubicBezTo>
                    <a:pt x="949035" y="348061"/>
                    <a:pt x="944759" y="358385"/>
                    <a:pt x="937148" y="365996"/>
                  </a:cubicBezTo>
                  <a:cubicBezTo>
                    <a:pt x="929536" y="373607"/>
                    <a:pt x="919213" y="377883"/>
                    <a:pt x="908449" y="377883"/>
                  </a:cubicBezTo>
                  <a:lnTo>
                    <a:pt x="40586" y="377883"/>
                  </a:lnTo>
                  <a:cubicBezTo>
                    <a:pt x="29822" y="377883"/>
                    <a:pt x="19499" y="373607"/>
                    <a:pt x="11887" y="365996"/>
                  </a:cubicBezTo>
                  <a:cubicBezTo>
                    <a:pt x="4276" y="358385"/>
                    <a:pt x="0" y="348061"/>
                    <a:pt x="0" y="337297"/>
                  </a:cubicBezTo>
                  <a:lnTo>
                    <a:pt x="0" y="40586"/>
                  </a:lnTo>
                  <a:cubicBezTo>
                    <a:pt x="0" y="29822"/>
                    <a:pt x="4276" y="19499"/>
                    <a:pt x="11887" y="11887"/>
                  </a:cubicBezTo>
                  <a:cubicBezTo>
                    <a:pt x="19499" y="4276"/>
                    <a:pt x="29822" y="0"/>
                    <a:pt x="40586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9035" cy="435033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026926" y="4994420"/>
            <a:ext cx="1193901" cy="730780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49091" y="4994420"/>
            <a:ext cx="1193901" cy="730780"/>
            <a:chOff x="0" y="0"/>
            <a:chExt cx="983094" cy="6017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4392" y="5000894"/>
            <a:ext cx="16009310" cy="1504830"/>
            <a:chOff x="0" y="0"/>
            <a:chExt cx="6906969" cy="649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06969" cy="649235"/>
            </a:xfrm>
            <a:custGeom>
              <a:avLst/>
              <a:gdLst/>
              <a:ahLst/>
              <a:cxnLst/>
              <a:rect r="r" b="b" t="t" l="l"/>
              <a:pathLst>
                <a:path h="649235" w="6906969">
                  <a:moveTo>
                    <a:pt x="6906969" y="324618"/>
                  </a:moveTo>
                  <a:lnTo>
                    <a:pt x="6500569" y="0"/>
                  </a:lnTo>
                  <a:lnTo>
                    <a:pt x="6500569" y="203200"/>
                  </a:lnTo>
                  <a:lnTo>
                    <a:pt x="0" y="203200"/>
                  </a:lnTo>
                  <a:lnTo>
                    <a:pt x="0" y="446035"/>
                  </a:lnTo>
                  <a:lnTo>
                    <a:pt x="6500569" y="446035"/>
                  </a:lnTo>
                  <a:lnTo>
                    <a:pt x="6500569" y="649235"/>
                  </a:lnTo>
                  <a:lnTo>
                    <a:pt x="6906969" y="324618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46050"/>
              <a:ext cx="6805369" cy="299985"/>
            </a:xfrm>
            <a:prstGeom prst="rect">
              <a:avLst/>
            </a:prstGeom>
          </p:spPr>
          <p:txBody>
            <a:bodyPr anchor="ctr" rtlCol="false" tIns="80856" lIns="80856" bIns="80856" rIns="8085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92047" y="4041407"/>
            <a:ext cx="2959883" cy="3050458"/>
          </a:xfrm>
          <a:custGeom>
            <a:avLst/>
            <a:gdLst/>
            <a:ahLst/>
            <a:cxnLst/>
            <a:rect r="r" b="b" t="t" l="l"/>
            <a:pathLst>
              <a:path h="3050458" w="2959883">
                <a:moveTo>
                  <a:pt x="0" y="0"/>
                </a:moveTo>
                <a:lnTo>
                  <a:pt x="2959884" y="0"/>
                </a:lnTo>
                <a:lnTo>
                  <a:pt x="2959884" y="3050458"/>
                </a:lnTo>
                <a:lnTo>
                  <a:pt x="0" y="30504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331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70239" y="3559780"/>
            <a:ext cx="2244907" cy="4061325"/>
          </a:xfrm>
          <a:custGeom>
            <a:avLst/>
            <a:gdLst/>
            <a:ahLst/>
            <a:cxnLst/>
            <a:rect r="r" b="b" t="t" l="l"/>
            <a:pathLst>
              <a:path h="4061325" w="2244907">
                <a:moveTo>
                  <a:pt x="0" y="0"/>
                </a:moveTo>
                <a:lnTo>
                  <a:pt x="2244907" y="0"/>
                </a:lnTo>
                <a:lnTo>
                  <a:pt x="2244907" y="4061325"/>
                </a:lnTo>
                <a:lnTo>
                  <a:pt x="0" y="4061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257242" y="8277581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76181" y="4041407"/>
            <a:ext cx="4501763" cy="3579698"/>
          </a:xfrm>
          <a:custGeom>
            <a:avLst/>
            <a:gdLst/>
            <a:ahLst/>
            <a:cxnLst/>
            <a:rect r="r" b="b" t="t" l="l"/>
            <a:pathLst>
              <a:path h="3579698" w="4501763">
                <a:moveTo>
                  <a:pt x="0" y="0"/>
                </a:moveTo>
                <a:lnTo>
                  <a:pt x="4501763" y="0"/>
                </a:lnTo>
                <a:lnTo>
                  <a:pt x="4501763" y="3579698"/>
                </a:lnTo>
                <a:lnTo>
                  <a:pt x="0" y="35796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75" t="-7619" r="-335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64287" y="8277581"/>
            <a:ext cx="3200971" cy="472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  <a:spcBef>
                <a:spcPct val="0"/>
              </a:spcBef>
            </a:pPr>
            <a:r>
              <a:rPr lang="en-US" b="true" sz="283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환경 제공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13676" y="7780281"/>
            <a:ext cx="3316625" cy="97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837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Sensor fusion 및 </a:t>
            </a:r>
          </a:p>
          <a:p>
            <a:pPr algn="ctr">
              <a:lnSpc>
                <a:spcPts val="3972"/>
              </a:lnSpc>
              <a:spcBef>
                <a:spcPct val="0"/>
              </a:spcBef>
            </a:pPr>
            <a:r>
              <a:rPr lang="en-US" b="true" sz="283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고장 허용 알고리즘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9374539" y="4387175"/>
            <a:ext cx="3985171" cy="2704690"/>
          </a:xfrm>
          <a:custGeom>
            <a:avLst/>
            <a:gdLst/>
            <a:ahLst/>
            <a:cxnLst/>
            <a:rect r="r" b="b" t="t" l="l"/>
            <a:pathLst>
              <a:path h="2704690" w="3985171">
                <a:moveTo>
                  <a:pt x="0" y="0"/>
                </a:moveTo>
                <a:lnTo>
                  <a:pt x="3985171" y="0"/>
                </a:lnTo>
                <a:lnTo>
                  <a:pt x="3985171" y="2704690"/>
                </a:lnTo>
                <a:lnTo>
                  <a:pt x="0" y="27046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226536" y="7780281"/>
            <a:ext cx="2281177" cy="97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  <a:spcBef>
                <a:spcPct val="0"/>
              </a:spcBef>
            </a:pPr>
            <a:r>
              <a:rPr lang="en-US" b="true" sz="2837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Rule based planner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94392" y="5000894"/>
            <a:ext cx="16009310" cy="1504830"/>
            <a:chOff x="0" y="0"/>
            <a:chExt cx="6906969" cy="64923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06969" cy="649235"/>
            </a:xfrm>
            <a:custGeom>
              <a:avLst/>
              <a:gdLst/>
              <a:ahLst/>
              <a:cxnLst/>
              <a:rect r="r" b="b" t="t" l="l"/>
              <a:pathLst>
                <a:path h="649235" w="6906969">
                  <a:moveTo>
                    <a:pt x="6906969" y="324618"/>
                  </a:moveTo>
                  <a:lnTo>
                    <a:pt x="6500569" y="0"/>
                  </a:lnTo>
                  <a:lnTo>
                    <a:pt x="6500569" y="203200"/>
                  </a:lnTo>
                  <a:lnTo>
                    <a:pt x="0" y="203200"/>
                  </a:lnTo>
                  <a:lnTo>
                    <a:pt x="0" y="446035"/>
                  </a:lnTo>
                  <a:lnTo>
                    <a:pt x="6500569" y="446035"/>
                  </a:lnTo>
                  <a:lnTo>
                    <a:pt x="6500569" y="649235"/>
                  </a:lnTo>
                  <a:lnTo>
                    <a:pt x="6906969" y="324618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46050"/>
              <a:ext cx="6805369" cy="299985"/>
            </a:xfrm>
            <a:prstGeom prst="rect">
              <a:avLst/>
            </a:prstGeom>
          </p:spPr>
          <p:txBody>
            <a:bodyPr anchor="ctr" rtlCol="false" tIns="80856" lIns="80856" bIns="80856" rIns="8085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638989" y="4515815"/>
            <a:ext cx="3069368" cy="2149254"/>
          </a:xfrm>
          <a:custGeom>
            <a:avLst/>
            <a:gdLst/>
            <a:ahLst/>
            <a:cxnLst/>
            <a:rect r="r" b="b" t="t" l="l"/>
            <a:pathLst>
              <a:path h="2149254" w="3069368">
                <a:moveTo>
                  <a:pt x="0" y="0"/>
                </a:moveTo>
                <a:lnTo>
                  <a:pt x="3069368" y="0"/>
                </a:lnTo>
                <a:lnTo>
                  <a:pt x="3069368" y="2149254"/>
                </a:lnTo>
                <a:lnTo>
                  <a:pt x="0" y="2149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81" t="0" r="-5068" b="-12304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392047" y="4041407"/>
            <a:ext cx="2959883" cy="3050458"/>
          </a:xfrm>
          <a:custGeom>
            <a:avLst/>
            <a:gdLst/>
            <a:ahLst/>
            <a:cxnLst/>
            <a:rect r="r" b="b" t="t" l="l"/>
            <a:pathLst>
              <a:path h="3050458" w="2959883">
                <a:moveTo>
                  <a:pt x="0" y="0"/>
                </a:moveTo>
                <a:lnTo>
                  <a:pt x="2959884" y="0"/>
                </a:lnTo>
                <a:lnTo>
                  <a:pt x="2959884" y="3050458"/>
                </a:lnTo>
                <a:lnTo>
                  <a:pt x="0" y="30504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331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70239" y="3559780"/>
            <a:ext cx="2244907" cy="4061325"/>
          </a:xfrm>
          <a:custGeom>
            <a:avLst/>
            <a:gdLst/>
            <a:ahLst/>
            <a:cxnLst/>
            <a:rect r="r" b="b" t="t" l="l"/>
            <a:pathLst>
              <a:path h="4061325" w="2244907">
                <a:moveTo>
                  <a:pt x="0" y="0"/>
                </a:moveTo>
                <a:lnTo>
                  <a:pt x="2244907" y="0"/>
                </a:lnTo>
                <a:lnTo>
                  <a:pt x="2244907" y="4061325"/>
                </a:lnTo>
                <a:lnTo>
                  <a:pt x="0" y="4061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283285" y="3877565"/>
            <a:ext cx="3622214" cy="4272634"/>
            <a:chOff x="0" y="0"/>
            <a:chExt cx="4829619" cy="5696846"/>
          </a:xfrm>
        </p:grpSpPr>
        <p:sp>
          <p:nvSpPr>
            <p:cNvPr name="Freeform 16" id="16"/>
            <p:cNvSpPr/>
            <p:nvPr/>
          </p:nvSpPr>
          <p:spPr>
            <a:xfrm flipH="true" flipV="false" rot="0">
              <a:off x="0" y="0"/>
              <a:ext cx="3395782" cy="4367565"/>
            </a:xfrm>
            <a:custGeom>
              <a:avLst/>
              <a:gdLst/>
              <a:ahLst/>
              <a:cxnLst/>
              <a:rect r="r" b="b" t="t" l="l"/>
              <a:pathLst>
                <a:path h="4367565" w="3395782">
                  <a:moveTo>
                    <a:pt x="3395782" y="0"/>
                  </a:moveTo>
                  <a:lnTo>
                    <a:pt x="0" y="0"/>
                  </a:lnTo>
                  <a:lnTo>
                    <a:pt x="0" y="4367565"/>
                  </a:lnTo>
                  <a:lnTo>
                    <a:pt x="3395782" y="4367565"/>
                  </a:lnTo>
                  <a:lnTo>
                    <a:pt x="3395782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61192" y="647391"/>
              <a:ext cx="3473390" cy="4130761"/>
            </a:xfrm>
            <a:custGeom>
              <a:avLst/>
              <a:gdLst/>
              <a:ahLst/>
              <a:cxnLst/>
              <a:rect r="r" b="b" t="t" l="l"/>
              <a:pathLst>
                <a:path h="4130761" w="3473390">
                  <a:moveTo>
                    <a:pt x="0" y="0"/>
                  </a:moveTo>
                  <a:lnTo>
                    <a:pt x="3473391" y="0"/>
                  </a:lnTo>
                  <a:lnTo>
                    <a:pt x="3473391" y="4130761"/>
                  </a:lnTo>
                  <a:lnTo>
                    <a:pt x="0" y="4130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857" t="0" r="0" b="-4176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433837" y="1329281"/>
              <a:ext cx="3395782" cy="4367565"/>
            </a:xfrm>
            <a:custGeom>
              <a:avLst/>
              <a:gdLst/>
              <a:ahLst/>
              <a:cxnLst/>
              <a:rect r="r" b="b" t="t" l="l"/>
              <a:pathLst>
                <a:path h="4367565" w="3395782">
                  <a:moveTo>
                    <a:pt x="0" y="0"/>
                  </a:moveTo>
                  <a:lnTo>
                    <a:pt x="3395782" y="0"/>
                  </a:lnTo>
                  <a:lnTo>
                    <a:pt x="3395782" y="4367565"/>
                  </a:lnTo>
                  <a:lnTo>
                    <a:pt x="0" y="4367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61854" y="824154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078160" y="824154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32434" y="824154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386559" y="824154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885991" y="4077956"/>
            <a:ext cx="2348796" cy="3083444"/>
          </a:xfrm>
          <a:custGeom>
            <a:avLst/>
            <a:gdLst/>
            <a:ahLst/>
            <a:cxnLst/>
            <a:rect r="r" b="b" t="t" l="l"/>
            <a:pathLst>
              <a:path h="3083444" w="2348796">
                <a:moveTo>
                  <a:pt x="2348797" y="0"/>
                </a:moveTo>
                <a:lnTo>
                  <a:pt x="0" y="0"/>
                </a:lnTo>
                <a:lnTo>
                  <a:pt x="0" y="3083444"/>
                </a:lnTo>
                <a:lnTo>
                  <a:pt x="2348797" y="3083444"/>
                </a:lnTo>
                <a:lnTo>
                  <a:pt x="2348797" y="0"/>
                </a:lnTo>
                <a:close/>
              </a:path>
            </a:pathLst>
          </a:custGeom>
          <a:blipFill>
            <a:blip r:embed="rId6"/>
            <a:stretch>
              <a:fillRect l="-8431" t="-3324" r="0" b="-290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81886" y="4460977"/>
            <a:ext cx="2605043" cy="3098071"/>
          </a:xfrm>
          <a:custGeom>
            <a:avLst/>
            <a:gdLst/>
            <a:ahLst/>
            <a:cxnLst/>
            <a:rect r="r" b="b" t="t" l="l"/>
            <a:pathLst>
              <a:path h="3098071" w="2605043">
                <a:moveTo>
                  <a:pt x="0" y="0"/>
                </a:moveTo>
                <a:lnTo>
                  <a:pt x="2605042" y="0"/>
                </a:lnTo>
                <a:lnTo>
                  <a:pt x="2605042" y="3098070"/>
                </a:lnTo>
                <a:lnTo>
                  <a:pt x="0" y="30980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857" t="0" r="0" b="-417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61369" y="4972394"/>
            <a:ext cx="2546836" cy="3275674"/>
          </a:xfrm>
          <a:custGeom>
            <a:avLst/>
            <a:gdLst/>
            <a:ahLst/>
            <a:cxnLst/>
            <a:rect r="r" b="b" t="t" l="l"/>
            <a:pathLst>
              <a:path h="3275674" w="2546836">
                <a:moveTo>
                  <a:pt x="0" y="0"/>
                </a:moveTo>
                <a:lnTo>
                  <a:pt x="2546837" y="0"/>
                </a:lnTo>
                <a:lnTo>
                  <a:pt x="2546837" y="3275674"/>
                </a:lnTo>
                <a:lnTo>
                  <a:pt x="0" y="32756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5359841" y="3975433"/>
            <a:ext cx="11301259" cy="4153213"/>
          </a:xfrm>
          <a:custGeom>
            <a:avLst/>
            <a:gdLst/>
            <a:ahLst/>
            <a:cxnLst/>
            <a:rect r="r" b="b" t="t" l="l"/>
            <a:pathLst>
              <a:path h="4153213" w="11301259">
                <a:moveTo>
                  <a:pt x="0" y="0"/>
                </a:moveTo>
                <a:lnTo>
                  <a:pt x="11301258" y="0"/>
                </a:lnTo>
                <a:lnTo>
                  <a:pt x="11301258" y="4153213"/>
                </a:lnTo>
                <a:lnTo>
                  <a:pt x="0" y="41532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728024" y="228492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29304" y="228492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3898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7023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61416" y="3254825"/>
            <a:ext cx="3125372" cy="2890969"/>
          </a:xfrm>
          <a:custGeom>
            <a:avLst/>
            <a:gdLst/>
            <a:ahLst/>
            <a:cxnLst/>
            <a:rect r="r" b="b" t="t" l="l"/>
            <a:pathLst>
              <a:path h="2890969" w="3125372">
                <a:moveTo>
                  <a:pt x="0" y="0"/>
                </a:moveTo>
                <a:lnTo>
                  <a:pt x="3125373" y="0"/>
                </a:lnTo>
                <a:lnTo>
                  <a:pt x="3125373" y="2890969"/>
                </a:lnTo>
                <a:lnTo>
                  <a:pt x="0" y="2890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000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86917" y="6345819"/>
            <a:ext cx="2999872" cy="2845997"/>
          </a:xfrm>
          <a:custGeom>
            <a:avLst/>
            <a:gdLst/>
            <a:ahLst/>
            <a:cxnLst/>
            <a:rect r="r" b="b" t="t" l="l"/>
            <a:pathLst>
              <a:path h="2845997" w="2999872">
                <a:moveTo>
                  <a:pt x="0" y="0"/>
                </a:moveTo>
                <a:lnTo>
                  <a:pt x="2999872" y="0"/>
                </a:lnTo>
                <a:lnTo>
                  <a:pt x="2999872" y="2845998"/>
                </a:lnTo>
                <a:lnTo>
                  <a:pt x="0" y="28459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5125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51341" y="3406278"/>
            <a:ext cx="9018898" cy="3314445"/>
          </a:xfrm>
          <a:custGeom>
            <a:avLst/>
            <a:gdLst/>
            <a:ahLst/>
            <a:cxnLst/>
            <a:rect r="r" b="b" t="t" l="l"/>
            <a:pathLst>
              <a:path h="3314445" w="9018898">
                <a:moveTo>
                  <a:pt x="0" y="0"/>
                </a:moveTo>
                <a:lnTo>
                  <a:pt x="9018898" y="0"/>
                </a:lnTo>
                <a:lnTo>
                  <a:pt x="9018898" y="3314445"/>
                </a:lnTo>
                <a:lnTo>
                  <a:pt x="0" y="33144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728024" y="228492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29304" y="228492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3898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7023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359710" y="7158391"/>
            <a:ext cx="3110508" cy="1796729"/>
            <a:chOff x="0" y="0"/>
            <a:chExt cx="4147344" cy="2395639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47625"/>
              <a:ext cx="414734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Weather conditions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832908"/>
              <a:ext cx="404402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Lighting conditions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1848480"/>
              <a:ext cx="818489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Dirt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320239" y="4076357"/>
            <a:ext cx="6453128" cy="5494006"/>
            <a:chOff x="0" y="0"/>
            <a:chExt cx="8604170" cy="732534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117373" y="3894122"/>
              <a:ext cx="8465258" cy="3248703"/>
            </a:xfrm>
            <a:custGeom>
              <a:avLst/>
              <a:gdLst/>
              <a:ahLst/>
              <a:cxnLst/>
              <a:rect r="r" b="b" t="t" l="l"/>
              <a:pathLst>
                <a:path h="3248703" w="8465258">
                  <a:moveTo>
                    <a:pt x="0" y="0"/>
                  </a:moveTo>
                  <a:lnTo>
                    <a:pt x="8465259" y="0"/>
                  </a:lnTo>
                  <a:lnTo>
                    <a:pt x="8465259" y="3248703"/>
                  </a:lnTo>
                  <a:lnTo>
                    <a:pt x="0" y="3248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4314443" y="13463"/>
              <a:ext cx="1872960" cy="1302728"/>
              <a:chOff x="0" y="0"/>
              <a:chExt cx="369967" cy="257329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369967" cy="257329"/>
              </a:xfrm>
              <a:custGeom>
                <a:avLst/>
                <a:gdLst/>
                <a:ahLst/>
                <a:cxnLst/>
                <a:rect r="r" b="b" t="t" l="l"/>
                <a:pathLst>
                  <a:path h="257329" w="369967">
                    <a:moveTo>
                      <a:pt x="0" y="0"/>
                    </a:moveTo>
                    <a:lnTo>
                      <a:pt x="369967" y="0"/>
                    </a:lnTo>
                    <a:lnTo>
                      <a:pt x="369967" y="257329"/>
                    </a:lnTo>
                    <a:lnTo>
                      <a:pt x="0" y="257329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369967" cy="3144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6794" y="3836648"/>
              <a:ext cx="8565838" cy="3488693"/>
              <a:chOff x="0" y="0"/>
              <a:chExt cx="1692017" cy="68912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692017" cy="689125"/>
              </a:xfrm>
              <a:custGeom>
                <a:avLst/>
                <a:gdLst/>
                <a:ahLst/>
                <a:cxnLst/>
                <a:rect r="r" b="b" t="t" l="l"/>
                <a:pathLst>
                  <a:path h="689125" w="1692017">
                    <a:moveTo>
                      <a:pt x="0" y="0"/>
                    </a:moveTo>
                    <a:lnTo>
                      <a:pt x="1692017" y="0"/>
                    </a:lnTo>
                    <a:lnTo>
                      <a:pt x="1692017" y="689125"/>
                    </a:lnTo>
                    <a:lnTo>
                      <a:pt x="0" y="68912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FF3131"/>
                </a:solidFill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57150"/>
                <a:ext cx="1692017" cy="7462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name="AutoShape 44" id="44"/>
            <p:cNvSpPr/>
            <p:nvPr/>
          </p:nvSpPr>
          <p:spPr>
            <a:xfrm flipV="true">
              <a:off x="16794" y="49023"/>
              <a:ext cx="4297648" cy="3787625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 flipV="true">
              <a:off x="6156922" y="41097"/>
              <a:ext cx="2425709" cy="3853024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2538029" y="1275552"/>
              <a:ext cx="1811974" cy="2561096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6156922" y="1316192"/>
              <a:ext cx="911567" cy="2481772"/>
            </a:xfrm>
            <a:prstGeom prst="line">
              <a:avLst/>
            </a:prstGeom>
            <a:ln cap="flat" w="50800">
              <a:solidFill>
                <a:srgbClr val="FF3131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8465409" y="2371799"/>
            <a:ext cx="2119179" cy="7776805"/>
          </a:xfrm>
          <a:custGeom>
            <a:avLst/>
            <a:gdLst/>
            <a:ahLst/>
            <a:cxnLst/>
            <a:rect r="r" b="b" t="t" l="l"/>
            <a:pathLst>
              <a:path h="7776805" w="2119179">
                <a:moveTo>
                  <a:pt x="0" y="0"/>
                </a:moveTo>
                <a:lnTo>
                  <a:pt x="2119179" y="0"/>
                </a:lnTo>
                <a:lnTo>
                  <a:pt x="2119179" y="7776805"/>
                </a:lnTo>
                <a:lnTo>
                  <a:pt x="0" y="7776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98706" y="4640701"/>
            <a:ext cx="5969693" cy="4093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v_ego: egoActor의 현재 속력 (m/s)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d_rel: 앞 차와의 상대적 거리 (m)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v_lead: 앞 차의 현재 속력 (m/s)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e1: 횡편차 (m)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e2: 목표 yaw와 egoActor yaw의 차이(rad)</a:t>
            </a:r>
          </a:p>
          <a:p>
            <a:pPr algn="l">
              <a:lnSpc>
                <a:spcPts val="3606"/>
              </a:lnSpc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e1dot: 횡편차의 변화율 (m/s)</a:t>
            </a:r>
          </a:p>
          <a:p>
            <a:pPr algn="l">
              <a:lnSpc>
                <a:spcPts val="3606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e2dot: 각속도 (rad/s)</a:t>
            </a:r>
          </a:p>
          <a:p>
            <a:pPr algn="l">
              <a:lnSpc>
                <a:spcPts val="3606"/>
              </a:lnSpc>
              <a:spcBef>
                <a:spcPct val="0"/>
              </a:spcBef>
            </a:pPr>
            <a:r>
              <a:rPr lang="en-US" sz="257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integral_error : 오차의 과거 이력과 추세</a:t>
            </a:r>
          </a:p>
          <a:p>
            <a:pPr algn="l">
              <a:lnSpc>
                <a:spcPts val="3606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4728024" y="2284925"/>
            <a:ext cx="3343989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29204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8918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70169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7258" y="3363627"/>
            <a:ext cx="5710948" cy="49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RL Agent의 Observation Input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977983" y="5727112"/>
            <a:ext cx="3355872" cy="2349872"/>
          </a:xfrm>
          <a:custGeom>
            <a:avLst/>
            <a:gdLst/>
            <a:ahLst/>
            <a:cxnLst/>
            <a:rect r="r" b="b" t="t" l="l"/>
            <a:pathLst>
              <a:path h="2349872" w="3355872">
                <a:moveTo>
                  <a:pt x="0" y="0"/>
                </a:moveTo>
                <a:lnTo>
                  <a:pt x="3355872" y="0"/>
                </a:lnTo>
                <a:lnTo>
                  <a:pt x="3355872" y="2349872"/>
                </a:lnTo>
                <a:lnTo>
                  <a:pt x="0" y="2349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081" t="0" r="-5068" b="-12304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64218" y="9394468"/>
            <a:ext cx="18359286" cy="969555"/>
            <a:chOff x="0" y="0"/>
            <a:chExt cx="24479049" cy="12927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810380" y="4833852"/>
            <a:ext cx="10336014" cy="3423805"/>
          </a:xfrm>
          <a:custGeom>
            <a:avLst/>
            <a:gdLst/>
            <a:ahLst/>
            <a:cxnLst/>
            <a:rect r="r" b="b" t="t" l="l"/>
            <a:pathLst>
              <a:path h="3423805" w="10336014">
                <a:moveTo>
                  <a:pt x="0" y="0"/>
                </a:moveTo>
                <a:lnTo>
                  <a:pt x="10336014" y="0"/>
                </a:lnTo>
                <a:lnTo>
                  <a:pt x="10336014" y="3423805"/>
                </a:lnTo>
                <a:lnTo>
                  <a:pt x="0" y="34238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858372" y="4877274"/>
            <a:ext cx="5396405" cy="692092"/>
            <a:chOff x="0" y="0"/>
            <a:chExt cx="1613910" cy="2069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13910" cy="206985"/>
            </a:xfrm>
            <a:custGeom>
              <a:avLst/>
              <a:gdLst/>
              <a:ahLst/>
              <a:cxnLst/>
              <a:rect r="r" b="b" t="t" l="l"/>
              <a:pathLst>
                <a:path h="206985" w="1613910">
                  <a:moveTo>
                    <a:pt x="0" y="0"/>
                  </a:moveTo>
                  <a:lnTo>
                    <a:pt x="1613910" y="0"/>
                  </a:lnTo>
                  <a:lnTo>
                    <a:pt x="1613910" y="206985"/>
                  </a:lnTo>
                  <a:lnTo>
                    <a:pt x="0" y="206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613910" cy="264135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39199" y="6253187"/>
            <a:ext cx="789061" cy="551828"/>
            <a:chOff x="0" y="0"/>
            <a:chExt cx="235986" cy="1650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5986" cy="165036"/>
            </a:xfrm>
            <a:custGeom>
              <a:avLst/>
              <a:gdLst/>
              <a:ahLst/>
              <a:cxnLst/>
              <a:rect r="r" b="b" t="t" l="l"/>
              <a:pathLst>
                <a:path h="165036" w="235986">
                  <a:moveTo>
                    <a:pt x="0" y="0"/>
                  </a:moveTo>
                  <a:lnTo>
                    <a:pt x="235986" y="0"/>
                  </a:lnTo>
                  <a:lnTo>
                    <a:pt x="235986" y="165036"/>
                  </a:lnTo>
                  <a:lnTo>
                    <a:pt x="0" y="1650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35986" cy="222186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078654" y="7589714"/>
            <a:ext cx="1067740" cy="498673"/>
            <a:chOff x="0" y="0"/>
            <a:chExt cx="319330" cy="1491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9330" cy="149139"/>
            </a:xfrm>
            <a:custGeom>
              <a:avLst/>
              <a:gdLst/>
              <a:ahLst/>
              <a:cxnLst/>
              <a:rect r="r" b="b" t="t" l="l"/>
              <a:pathLst>
                <a:path h="149139" w="319330">
                  <a:moveTo>
                    <a:pt x="0" y="0"/>
                  </a:moveTo>
                  <a:lnTo>
                    <a:pt x="319330" y="0"/>
                  </a:lnTo>
                  <a:lnTo>
                    <a:pt x="319330" y="149139"/>
                  </a:lnTo>
                  <a:lnTo>
                    <a:pt x="0" y="1491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19330" cy="206289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8585217" y="5885155"/>
            <a:ext cx="1722011" cy="36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  <a:spcBef>
                <a:spcPct val="0"/>
              </a:spcBef>
            </a:pPr>
            <a:r>
              <a:rPr lang="en-US" b="true" sz="2201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lateral error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728878" y="7221682"/>
            <a:ext cx="1893092" cy="36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  <a:spcBef>
                <a:spcPct val="0"/>
              </a:spcBef>
            </a:pPr>
            <a:r>
              <a:rPr lang="en-US" b="true" sz="2201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velocity error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98830" y="4156804"/>
            <a:ext cx="9535435" cy="482807"/>
          </a:xfrm>
          <a:custGeom>
            <a:avLst/>
            <a:gdLst/>
            <a:ahLst/>
            <a:cxnLst/>
            <a:rect r="r" b="b" t="t" l="l"/>
            <a:pathLst>
              <a:path h="482807" w="9535435">
                <a:moveTo>
                  <a:pt x="0" y="0"/>
                </a:moveTo>
                <a:lnTo>
                  <a:pt x="9535435" y="0"/>
                </a:lnTo>
                <a:lnTo>
                  <a:pt x="9535435" y="482806"/>
                </a:lnTo>
                <a:lnTo>
                  <a:pt x="0" y="482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4728024" y="228492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29304" y="228492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3898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7023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10380" y="3206253"/>
            <a:ext cx="4917596" cy="49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Reward Function 설계 과정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1146394" y="3158697"/>
            <a:ext cx="4863682" cy="2638547"/>
          </a:xfrm>
          <a:custGeom>
            <a:avLst/>
            <a:gdLst/>
            <a:ahLst/>
            <a:cxnLst/>
            <a:rect r="r" b="b" t="t" l="l"/>
            <a:pathLst>
              <a:path h="2638547" w="4863682">
                <a:moveTo>
                  <a:pt x="0" y="0"/>
                </a:moveTo>
                <a:lnTo>
                  <a:pt x="4863682" y="0"/>
                </a:lnTo>
                <a:lnTo>
                  <a:pt x="4863682" y="2638547"/>
                </a:lnTo>
                <a:lnTo>
                  <a:pt x="0" y="2638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10380" y="8553146"/>
            <a:ext cx="11218924" cy="743254"/>
          </a:xfrm>
          <a:custGeom>
            <a:avLst/>
            <a:gdLst/>
            <a:ahLst/>
            <a:cxnLst/>
            <a:rect r="r" b="b" t="t" l="l"/>
            <a:pathLst>
              <a:path h="743254" w="11218924">
                <a:moveTo>
                  <a:pt x="0" y="0"/>
                </a:moveTo>
                <a:lnTo>
                  <a:pt x="11218924" y="0"/>
                </a:lnTo>
                <a:lnTo>
                  <a:pt x="11218924" y="743254"/>
                </a:lnTo>
                <a:lnTo>
                  <a:pt x="0" y="74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844179" y="8553146"/>
            <a:ext cx="1185124" cy="711533"/>
            <a:chOff x="0" y="0"/>
            <a:chExt cx="312132" cy="187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2132" cy="187400"/>
            </a:xfrm>
            <a:custGeom>
              <a:avLst/>
              <a:gdLst/>
              <a:ahLst/>
              <a:cxnLst/>
              <a:rect r="r" b="b" t="t" l="l"/>
              <a:pathLst>
                <a:path h="187400" w="312132">
                  <a:moveTo>
                    <a:pt x="0" y="0"/>
                  </a:moveTo>
                  <a:lnTo>
                    <a:pt x="312132" y="0"/>
                  </a:lnTo>
                  <a:lnTo>
                    <a:pt x="312132" y="187400"/>
                  </a:lnTo>
                  <a:lnTo>
                    <a:pt x="0" y="187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12132" cy="244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-64218" y="9394468"/>
            <a:ext cx="18359286" cy="969555"/>
            <a:chOff x="0" y="0"/>
            <a:chExt cx="24479049" cy="12927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810380" y="4833852"/>
            <a:ext cx="10336014" cy="3423805"/>
          </a:xfrm>
          <a:custGeom>
            <a:avLst/>
            <a:gdLst/>
            <a:ahLst/>
            <a:cxnLst/>
            <a:rect r="r" b="b" t="t" l="l"/>
            <a:pathLst>
              <a:path h="3423805" w="10336014">
                <a:moveTo>
                  <a:pt x="0" y="0"/>
                </a:moveTo>
                <a:lnTo>
                  <a:pt x="10336014" y="0"/>
                </a:lnTo>
                <a:lnTo>
                  <a:pt x="10336014" y="3423805"/>
                </a:lnTo>
                <a:lnTo>
                  <a:pt x="0" y="34238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867897" y="4877274"/>
            <a:ext cx="5396405" cy="692092"/>
            <a:chOff x="0" y="0"/>
            <a:chExt cx="1613910" cy="20698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13910" cy="206985"/>
            </a:xfrm>
            <a:custGeom>
              <a:avLst/>
              <a:gdLst/>
              <a:ahLst/>
              <a:cxnLst/>
              <a:rect r="r" b="b" t="t" l="l"/>
              <a:pathLst>
                <a:path h="206985" w="1613910">
                  <a:moveTo>
                    <a:pt x="0" y="0"/>
                  </a:moveTo>
                  <a:lnTo>
                    <a:pt x="1613910" y="0"/>
                  </a:lnTo>
                  <a:lnTo>
                    <a:pt x="1613910" y="206985"/>
                  </a:lnTo>
                  <a:lnTo>
                    <a:pt x="0" y="2069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613910" cy="264135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39199" y="6253187"/>
            <a:ext cx="789061" cy="551828"/>
            <a:chOff x="0" y="0"/>
            <a:chExt cx="235986" cy="1650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5986" cy="165036"/>
            </a:xfrm>
            <a:custGeom>
              <a:avLst/>
              <a:gdLst/>
              <a:ahLst/>
              <a:cxnLst/>
              <a:rect r="r" b="b" t="t" l="l"/>
              <a:pathLst>
                <a:path h="165036" w="235986">
                  <a:moveTo>
                    <a:pt x="0" y="0"/>
                  </a:moveTo>
                  <a:lnTo>
                    <a:pt x="235986" y="0"/>
                  </a:lnTo>
                  <a:lnTo>
                    <a:pt x="235986" y="165036"/>
                  </a:lnTo>
                  <a:lnTo>
                    <a:pt x="0" y="1650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235986" cy="222186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78654" y="7589714"/>
            <a:ext cx="1067740" cy="498673"/>
            <a:chOff x="0" y="0"/>
            <a:chExt cx="319330" cy="1491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9330" cy="149139"/>
            </a:xfrm>
            <a:custGeom>
              <a:avLst/>
              <a:gdLst/>
              <a:ahLst/>
              <a:cxnLst/>
              <a:rect r="r" b="b" t="t" l="l"/>
              <a:pathLst>
                <a:path h="149139" w="319330">
                  <a:moveTo>
                    <a:pt x="0" y="0"/>
                  </a:moveTo>
                  <a:lnTo>
                    <a:pt x="319330" y="0"/>
                  </a:lnTo>
                  <a:lnTo>
                    <a:pt x="319330" y="149139"/>
                  </a:lnTo>
                  <a:lnTo>
                    <a:pt x="0" y="14913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319330" cy="206289"/>
            </a:xfrm>
            <a:prstGeom prst="rect">
              <a:avLst/>
            </a:prstGeom>
          </p:spPr>
          <p:txBody>
            <a:bodyPr anchor="ctr" rtlCol="false" tIns="44737" lIns="44737" bIns="44737" rIns="44737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585217" y="5885155"/>
            <a:ext cx="1722011" cy="36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  <a:spcBef>
                <a:spcPct val="0"/>
              </a:spcBef>
            </a:pPr>
            <a:r>
              <a:rPr lang="en-US" b="true" sz="2201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lateral error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28878" y="7221682"/>
            <a:ext cx="1893092" cy="368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2"/>
              </a:lnSpc>
              <a:spcBef>
                <a:spcPct val="0"/>
              </a:spcBef>
            </a:pPr>
            <a:r>
              <a:rPr lang="en-US" b="true" sz="2201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velocity error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146394" y="3158697"/>
            <a:ext cx="4863682" cy="2638547"/>
          </a:xfrm>
          <a:custGeom>
            <a:avLst/>
            <a:gdLst/>
            <a:ahLst/>
            <a:cxnLst/>
            <a:rect r="r" b="b" t="t" l="l"/>
            <a:pathLst>
              <a:path h="2638547" w="4863682">
                <a:moveTo>
                  <a:pt x="0" y="0"/>
                </a:moveTo>
                <a:lnTo>
                  <a:pt x="4863682" y="0"/>
                </a:lnTo>
                <a:lnTo>
                  <a:pt x="4863682" y="2638547"/>
                </a:lnTo>
                <a:lnTo>
                  <a:pt x="0" y="2638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898830" y="4156804"/>
            <a:ext cx="9535435" cy="482807"/>
          </a:xfrm>
          <a:custGeom>
            <a:avLst/>
            <a:gdLst/>
            <a:ahLst/>
            <a:cxnLst/>
            <a:rect r="r" b="b" t="t" l="l"/>
            <a:pathLst>
              <a:path h="482807" w="9535435">
                <a:moveTo>
                  <a:pt x="0" y="0"/>
                </a:moveTo>
                <a:lnTo>
                  <a:pt x="9535435" y="0"/>
                </a:lnTo>
                <a:lnTo>
                  <a:pt x="9535435" y="482806"/>
                </a:lnTo>
                <a:lnTo>
                  <a:pt x="0" y="4828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3252724" y="5945312"/>
            <a:ext cx="2683628" cy="3351088"/>
          </a:xfrm>
          <a:custGeom>
            <a:avLst/>
            <a:gdLst/>
            <a:ahLst/>
            <a:cxnLst/>
            <a:rect r="r" b="b" t="t" l="l"/>
            <a:pathLst>
              <a:path h="3351088" w="2683628">
                <a:moveTo>
                  <a:pt x="0" y="0"/>
                </a:moveTo>
                <a:lnTo>
                  <a:pt x="2683628" y="0"/>
                </a:lnTo>
                <a:lnTo>
                  <a:pt x="2683628" y="3351088"/>
                </a:lnTo>
                <a:lnTo>
                  <a:pt x="0" y="33510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6672" r="0" b="-16672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027527" y="8121346"/>
            <a:ext cx="81842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isFail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728024" y="228492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029304" y="228492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3898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47023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10380" y="3206253"/>
            <a:ext cx="5168546" cy="497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Reward Function 서브시스템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728024" y="2284925"/>
            <a:ext cx="3343989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29204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8918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70169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066674" y="3762333"/>
            <a:ext cx="6087094" cy="5802577"/>
            <a:chOff x="0" y="0"/>
            <a:chExt cx="8116125" cy="773676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25314"/>
              <a:ext cx="1580848" cy="7711455"/>
            </a:xfrm>
            <a:custGeom>
              <a:avLst/>
              <a:gdLst/>
              <a:ahLst/>
              <a:cxnLst/>
              <a:rect r="r" b="b" t="t" l="l"/>
              <a:pathLst>
                <a:path h="7711455" w="1580848">
                  <a:moveTo>
                    <a:pt x="0" y="0"/>
                  </a:moveTo>
                  <a:lnTo>
                    <a:pt x="1580848" y="0"/>
                  </a:lnTo>
                  <a:lnTo>
                    <a:pt x="1580848" y="7711455"/>
                  </a:lnTo>
                  <a:lnTo>
                    <a:pt x="0" y="7711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127936" y="0"/>
              <a:ext cx="2988189" cy="7711455"/>
            </a:xfrm>
            <a:custGeom>
              <a:avLst/>
              <a:gdLst/>
              <a:ahLst/>
              <a:cxnLst/>
              <a:rect r="r" b="b" t="t" l="l"/>
              <a:pathLst>
                <a:path h="7711455" w="2988189">
                  <a:moveTo>
                    <a:pt x="0" y="0"/>
                  </a:moveTo>
                  <a:lnTo>
                    <a:pt x="2988189" y="0"/>
                  </a:lnTo>
                  <a:lnTo>
                    <a:pt x="2988189" y="7711455"/>
                  </a:lnTo>
                  <a:lnTo>
                    <a:pt x="0" y="7711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365518" y="2839752"/>
            <a:ext cx="2549848" cy="4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b="true" sz="27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Actor Network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88631" y="2839752"/>
            <a:ext cx="2528545" cy="46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  <a:spcBef>
                <a:spcPct val="0"/>
              </a:spcBef>
            </a:pPr>
            <a:r>
              <a:rPr lang="en-US" b="true" sz="272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Critic Network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326026" y="9564910"/>
            <a:ext cx="314416" cy="314416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203200" y="444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17471" y="9564910"/>
            <a:ext cx="314416" cy="314416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708490" y="9564910"/>
            <a:ext cx="314416" cy="31441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099106" y="9563150"/>
            <a:ext cx="314416" cy="314416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203200" y="444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029204" y="9392789"/>
            <a:ext cx="1716921" cy="591152"/>
            <a:chOff x="0" y="0"/>
            <a:chExt cx="452193" cy="15569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52193" cy="155694"/>
            </a:xfrm>
            <a:custGeom>
              <a:avLst/>
              <a:gdLst/>
              <a:ahLst/>
              <a:cxnLst/>
              <a:rect r="r" b="b" t="t" l="l"/>
              <a:pathLst>
                <a:path h="155694" w="452193">
                  <a:moveTo>
                    <a:pt x="76656" y="0"/>
                  </a:moveTo>
                  <a:lnTo>
                    <a:pt x="375537" y="0"/>
                  </a:lnTo>
                  <a:cubicBezTo>
                    <a:pt x="395868" y="0"/>
                    <a:pt x="415365" y="8076"/>
                    <a:pt x="429741" y="22452"/>
                  </a:cubicBezTo>
                  <a:cubicBezTo>
                    <a:pt x="444117" y="36828"/>
                    <a:pt x="452193" y="56326"/>
                    <a:pt x="452193" y="76656"/>
                  </a:cubicBezTo>
                  <a:lnTo>
                    <a:pt x="452193" y="79038"/>
                  </a:lnTo>
                  <a:cubicBezTo>
                    <a:pt x="452193" y="99369"/>
                    <a:pt x="444117" y="118866"/>
                    <a:pt x="429741" y="133242"/>
                  </a:cubicBezTo>
                  <a:cubicBezTo>
                    <a:pt x="415365" y="147618"/>
                    <a:pt x="395868" y="155694"/>
                    <a:pt x="375537" y="155694"/>
                  </a:cubicBezTo>
                  <a:lnTo>
                    <a:pt x="76656" y="155694"/>
                  </a:lnTo>
                  <a:cubicBezTo>
                    <a:pt x="56326" y="155694"/>
                    <a:pt x="36828" y="147618"/>
                    <a:pt x="22452" y="133242"/>
                  </a:cubicBezTo>
                  <a:cubicBezTo>
                    <a:pt x="8076" y="118866"/>
                    <a:pt x="0" y="99369"/>
                    <a:pt x="0" y="79038"/>
                  </a:cubicBezTo>
                  <a:lnTo>
                    <a:pt x="0" y="76656"/>
                  </a:lnTo>
                  <a:cubicBezTo>
                    <a:pt x="0" y="56326"/>
                    <a:pt x="8076" y="36828"/>
                    <a:pt x="22452" y="22452"/>
                  </a:cubicBezTo>
                  <a:cubicBezTo>
                    <a:pt x="36828" y="8076"/>
                    <a:pt x="56326" y="0"/>
                    <a:pt x="76656" y="0"/>
                  </a:cubicBez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452193" cy="2128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Reward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256314" y="5143500"/>
            <a:ext cx="314416" cy="314416"/>
            <a:chOff x="0" y="0"/>
            <a:chExt cx="812800" cy="812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987323" y="3229416"/>
            <a:ext cx="7680107" cy="6028884"/>
          </a:xfrm>
          <a:custGeom>
            <a:avLst/>
            <a:gdLst/>
            <a:ahLst/>
            <a:cxnLst/>
            <a:rect r="r" b="b" t="t" l="l"/>
            <a:pathLst>
              <a:path h="6028884" w="7680107">
                <a:moveTo>
                  <a:pt x="0" y="0"/>
                </a:moveTo>
                <a:lnTo>
                  <a:pt x="7680107" y="0"/>
                </a:lnTo>
                <a:lnTo>
                  <a:pt x="7680107" y="6028884"/>
                </a:lnTo>
                <a:lnTo>
                  <a:pt x="0" y="6028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076699" y="5174799"/>
            <a:ext cx="4569129" cy="2138118"/>
          </a:xfrm>
          <a:custGeom>
            <a:avLst/>
            <a:gdLst/>
            <a:ahLst/>
            <a:cxnLst/>
            <a:rect r="r" b="b" t="t" l="l"/>
            <a:pathLst>
              <a:path h="2138118" w="4569129">
                <a:moveTo>
                  <a:pt x="0" y="0"/>
                </a:moveTo>
                <a:lnTo>
                  <a:pt x="4569128" y="0"/>
                </a:lnTo>
                <a:lnTo>
                  <a:pt x="4569128" y="2138118"/>
                </a:lnTo>
                <a:lnTo>
                  <a:pt x="0" y="2138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728024" y="2284925"/>
            <a:ext cx="3343989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29204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8918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70169" y="2284925"/>
            <a:ext cx="679252" cy="4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88671" y="4422058"/>
            <a:ext cx="19451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b="true" sz="25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workers: 8개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145451" y="664504"/>
            <a:ext cx="2645896" cy="1031656"/>
            <a:chOff x="0" y="0"/>
            <a:chExt cx="949035" cy="3700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고장 허용 알고리즘 검증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34265" y="664504"/>
            <a:ext cx="2645896" cy="1031656"/>
            <a:chOff x="0" y="0"/>
            <a:chExt cx="949035" cy="3700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0B3B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Agent training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13404" y="664504"/>
            <a:ext cx="2645896" cy="1031656"/>
            <a:chOff x="0" y="0"/>
            <a:chExt cx="949035" cy="370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49035" cy="370036"/>
            </a:xfrm>
            <a:custGeom>
              <a:avLst/>
              <a:gdLst/>
              <a:ahLst/>
              <a:cxnLst/>
              <a:rect r="r" b="b" t="t" l="l"/>
              <a:pathLst>
                <a:path h="370036" w="949035">
                  <a:moveTo>
                    <a:pt x="49742" y="0"/>
                  </a:moveTo>
                  <a:lnTo>
                    <a:pt x="899293" y="0"/>
                  </a:lnTo>
                  <a:cubicBezTo>
                    <a:pt x="912485" y="0"/>
                    <a:pt x="925137" y="5241"/>
                    <a:pt x="934466" y="14569"/>
                  </a:cubicBezTo>
                  <a:cubicBezTo>
                    <a:pt x="943794" y="23898"/>
                    <a:pt x="949035" y="36550"/>
                    <a:pt x="949035" y="49742"/>
                  </a:cubicBezTo>
                  <a:lnTo>
                    <a:pt x="949035" y="320294"/>
                  </a:lnTo>
                  <a:cubicBezTo>
                    <a:pt x="949035" y="333487"/>
                    <a:pt x="943794" y="346139"/>
                    <a:pt x="934466" y="355467"/>
                  </a:cubicBezTo>
                  <a:cubicBezTo>
                    <a:pt x="925137" y="364796"/>
                    <a:pt x="912485" y="370036"/>
                    <a:pt x="899293" y="370036"/>
                  </a:cubicBezTo>
                  <a:lnTo>
                    <a:pt x="49742" y="370036"/>
                  </a:lnTo>
                  <a:cubicBezTo>
                    <a:pt x="36550" y="370036"/>
                    <a:pt x="23898" y="364796"/>
                    <a:pt x="14569" y="355467"/>
                  </a:cubicBezTo>
                  <a:cubicBezTo>
                    <a:pt x="5241" y="346139"/>
                    <a:pt x="0" y="333487"/>
                    <a:pt x="0" y="320294"/>
                  </a:cubicBezTo>
                  <a:lnTo>
                    <a:pt x="0" y="49742"/>
                  </a:lnTo>
                  <a:cubicBezTo>
                    <a:pt x="0" y="36550"/>
                    <a:pt x="5241" y="23898"/>
                    <a:pt x="14569" y="14569"/>
                  </a:cubicBezTo>
                  <a:cubicBezTo>
                    <a:pt x="23898" y="5241"/>
                    <a:pt x="36550" y="0"/>
                    <a:pt x="49742" y="0"/>
                  </a:cubicBezTo>
                  <a:close/>
                </a:path>
              </a:pathLst>
            </a:custGeom>
            <a:solidFill>
              <a:srgbClr val="C8C6C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49035" cy="42718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  <a:r>
                <a:rPr lang="en-US" b="true" sz="250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Test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80357" y="882198"/>
            <a:ext cx="974145" cy="596268"/>
            <a:chOff x="0" y="0"/>
            <a:chExt cx="983094" cy="601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59710" y="882198"/>
            <a:ext cx="974145" cy="596268"/>
            <a:chOff x="0" y="0"/>
            <a:chExt cx="983094" cy="60174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3094" cy="601746"/>
            </a:xfrm>
            <a:custGeom>
              <a:avLst/>
              <a:gdLst/>
              <a:ahLst/>
              <a:cxnLst/>
              <a:rect r="r" b="b" t="t" l="l"/>
              <a:pathLst>
                <a:path h="601746" w="983094">
                  <a:moveTo>
                    <a:pt x="983094" y="300873"/>
                  </a:moveTo>
                  <a:lnTo>
                    <a:pt x="576694" y="0"/>
                  </a:lnTo>
                  <a:lnTo>
                    <a:pt x="576694" y="203200"/>
                  </a:lnTo>
                  <a:lnTo>
                    <a:pt x="0" y="203200"/>
                  </a:lnTo>
                  <a:lnTo>
                    <a:pt x="0" y="398546"/>
                  </a:lnTo>
                  <a:lnTo>
                    <a:pt x="576694" y="398546"/>
                  </a:lnTo>
                  <a:lnTo>
                    <a:pt x="576694" y="601746"/>
                  </a:lnTo>
                  <a:lnTo>
                    <a:pt x="983094" y="300873"/>
                  </a:lnTo>
                  <a:close/>
                </a:path>
              </a:pathLst>
            </a:custGeom>
            <a:solidFill>
              <a:srgbClr val="677DA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46050"/>
              <a:ext cx="881494" cy="252496"/>
            </a:xfrm>
            <a:prstGeom prst="rect">
              <a:avLst/>
            </a:prstGeom>
          </p:spPr>
          <p:txBody>
            <a:bodyPr anchor="ctr" rtlCol="false" tIns="45716" lIns="45716" bIns="45716" rIns="45716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503873" y="3528198"/>
            <a:ext cx="11301259" cy="5579997"/>
          </a:xfrm>
          <a:custGeom>
            <a:avLst/>
            <a:gdLst/>
            <a:ahLst/>
            <a:cxnLst/>
            <a:rect r="r" b="b" t="t" l="l"/>
            <a:pathLst>
              <a:path h="5579997" w="11301259">
                <a:moveTo>
                  <a:pt x="0" y="0"/>
                </a:moveTo>
                <a:lnTo>
                  <a:pt x="11301259" y="0"/>
                </a:lnTo>
                <a:lnTo>
                  <a:pt x="11301259" y="5579997"/>
                </a:lnTo>
                <a:lnTo>
                  <a:pt x="0" y="55799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728024" y="2284925"/>
            <a:ext cx="3343645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다양한 학습 환경 제공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29304" y="2284925"/>
            <a:ext cx="679053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판단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3898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C8C6C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인지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70239" y="2284925"/>
            <a:ext cx="679110" cy="48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8"/>
              </a:lnSpc>
              <a:spcBef>
                <a:spcPct val="0"/>
              </a:spcBef>
            </a:pPr>
            <a:r>
              <a:rPr lang="en-US" b="true" sz="2906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제어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159528" y="4433570"/>
            <a:ext cx="832048" cy="2752090"/>
            <a:chOff x="0" y="0"/>
            <a:chExt cx="1109398" cy="3669453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57150"/>
              <a:ext cx="1109398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Steer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646" y="3112770"/>
              <a:ext cx="1106752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537585" y="4404995"/>
            <a:ext cx="626707" cy="444387"/>
            <a:chOff x="0" y="0"/>
            <a:chExt cx="812800" cy="57634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576342"/>
            </a:xfrm>
            <a:custGeom>
              <a:avLst/>
              <a:gdLst/>
              <a:ahLst/>
              <a:cxnLst/>
              <a:rect r="r" b="b" t="t" l="l"/>
              <a:pathLst>
                <a:path h="576342" w="812800">
                  <a:moveTo>
                    <a:pt x="812800" y="28817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73142"/>
                  </a:lnTo>
                  <a:lnTo>
                    <a:pt x="406400" y="373142"/>
                  </a:lnTo>
                  <a:lnTo>
                    <a:pt x="406400" y="576342"/>
                  </a:lnTo>
                  <a:lnTo>
                    <a:pt x="812800" y="288171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46050"/>
              <a:ext cx="711200" cy="227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537585" y="6817929"/>
            <a:ext cx="626707" cy="444387"/>
            <a:chOff x="0" y="0"/>
            <a:chExt cx="812800" cy="57634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576342"/>
            </a:xfrm>
            <a:custGeom>
              <a:avLst/>
              <a:gdLst/>
              <a:ahLst/>
              <a:cxnLst/>
              <a:rect r="r" b="b" t="t" l="l"/>
              <a:pathLst>
                <a:path h="576342" w="812800">
                  <a:moveTo>
                    <a:pt x="812800" y="28817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73142"/>
                  </a:lnTo>
                  <a:lnTo>
                    <a:pt x="406400" y="373142"/>
                  </a:lnTo>
                  <a:lnTo>
                    <a:pt x="406400" y="576342"/>
                  </a:lnTo>
                  <a:lnTo>
                    <a:pt x="812800" y="288171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46050"/>
              <a:ext cx="711200" cy="2270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145451" y="664504"/>
            <a:ext cx="11113849" cy="1031656"/>
            <a:chOff x="0" y="0"/>
            <a:chExt cx="14818465" cy="137554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527861" cy="1375541"/>
              <a:chOff x="0" y="0"/>
              <a:chExt cx="949035" cy="37003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49035" cy="370036"/>
              </a:xfrm>
              <a:custGeom>
                <a:avLst/>
                <a:gdLst/>
                <a:ahLst/>
                <a:cxnLst/>
                <a:rect r="r" b="b" t="t" l="l"/>
                <a:pathLst>
                  <a:path h="370036" w="949035">
                    <a:moveTo>
                      <a:pt x="49742" y="0"/>
                    </a:moveTo>
                    <a:lnTo>
                      <a:pt x="899293" y="0"/>
                    </a:lnTo>
                    <a:cubicBezTo>
                      <a:pt x="912485" y="0"/>
                      <a:pt x="925137" y="5241"/>
                      <a:pt x="934466" y="14569"/>
                    </a:cubicBezTo>
                    <a:cubicBezTo>
                      <a:pt x="943794" y="23898"/>
                      <a:pt x="949035" y="36550"/>
                      <a:pt x="949035" y="49742"/>
                    </a:cubicBezTo>
                    <a:lnTo>
                      <a:pt x="949035" y="320294"/>
                    </a:lnTo>
                    <a:cubicBezTo>
                      <a:pt x="949035" y="333487"/>
                      <a:pt x="943794" y="346139"/>
                      <a:pt x="934466" y="355467"/>
                    </a:cubicBezTo>
                    <a:cubicBezTo>
                      <a:pt x="925137" y="364796"/>
                      <a:pt x="912485" y="370036"/>
                      <a:pt x="899293" y="370036"/>
                    </a:cubicBezTo>
                    <a:lnTo>
                      <a:pt x="49742" y="370036"/>
                    </a:lnTo>
                    <a:cubicBezTo>
                      <a:pt x="36550" y="370036"/>
                      <a:pt x="23898" y="364796"/>
                      <a:pt x="14569" y="355467"/>
                    </a:cubicBezTo>
                    <a:cubicBezTo>
                      <a:pt x="5241" y="346139"/>
                      <a:pt x="0" y="333487"/>
                      <a:pt x="0" y="320294"/>
                    </a:cubicBezTo>
                    <a:lnTo>
                      <a:pt x="0" y="49742"/>
                    </a:lnTo>
                    <a:cubicBezTo>
                      <a:pt x="0" y="36550"/>
                      <a:pt x="5241" y="23898"/>
                      <a:pt x="14569" y="14569"/>
                    </a:cubicBezTo>
                    <a:cubicBezTo>
                      <a:pt x="23898" y="5241"/>
                      <a:pt x="36550" y="0"/>
                      <a:pt x="49742" y="0"/>
                    </a:cubicBezTo>
                    <a:close/>
                  </a:path>
                </a:pathLst>
              </a:custGeom>
              <a:solidFill>
                <a:srgbClr val="C8C6C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57150"/>
                <a:ext cx="949035" cy="427186"/>
              </a:xfrm>
              <a:prstGeom prst="rect">
                <a:avLst/>
              </a:prstGeom>
            </p:spPr>
            <p:txBody>
              <a:bodyPr anchor="ctr" rtlCol="false" tIns="45716" lIns="45716" bIns="45716" rIns="45716"/>
              <a:lstStyle/>
              <a:p>
                <a:pPr algn="ctr">
                  <a:lnSpc>
                    <a:spcPts val="3500"/>
                  </a:lnSpc>
                </a:pPr>
                <a:r>
                  <a:rPr lang="en-US" b="true" sz="2500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고장 허용 알고리즘 검증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718418" y="0"/>
              <a:ext cx="3527861" cy="1375541"/>
              <a:chOff x="0" y="0"/>
              <a:chExt cx="949035" cy="37003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49035" cy="370036"/>
              </a:xfrm>
              <a:custGeom>
                <a:avLst/>
                <a:gdLst/>
                <a:ahLst/>
                <a:cxnLst/>
                <a:rect r="r" b="b" t="t" l="l"/>
                <a:pathLst>
                  <a:path h="370036" w="949035">
                    <a:moveTo>
                      <a:pt x="49742" y="0"/>
                    </a:moveTo>
                    <a:lnTo>
                      <a:pt x="899293" y="0"/>
                    </a:lnTo>
                    <a:cubicBezTo>
                      <a:pt x="912485" y="0"/>
                      <a:pt x="925137" y="5241"/>
                      <a:pt x="934466" y="14569"/>
                    </a:cubicBezTo>
                    <a:cubicBezTo>
                      <a:pt x="943794" y="23898"/>
                      <a:pt x="949035" y="36550"/>
                      <a:pt x="949035" y="49742"/>
                    </a:cubicBezTo>
                    <a:lnTo>
                      <a:pt x="949035" y="320294"/>
                    </a:lnTo>
                    <a:cubicBezTo>
                      <a:pt x="949035" y="333487"/>
                      <a:pt x="943794" y="346139"/>
                      <a:pt x="934466" y="355467"/>
                    </a:cubicBezTo>
                    <a:cubicBezTo>
                      <a:pt x="925137" y="364796"/>
                      <a:pt x="912485" y="370036"/>
                      <a:pt x="899293" y="370036"/>
                    </a:cubicBezTo>
                    <a:lnTo>
                      <a:pt x="49742" y="370036"/>
                    </a:lnTo>
                    <a:cubicBezTo>
                      <a:pt x="36550" y="370036"/>
                      <a:pt x="23898" y="364796"/>
                      <a:pt x="14569" y="355467"/>
                    </a:cubicBezTo>
                    <a:cubicBezTo>
                      <a:pt x="5241" y="346139"/>
                      <a:pt x="0" y="333487"/>
                      <a:pt x="0" y="320294"/>
                    </a:cubicBezTo>
                    <a:lnTo>
                      <a:pt x="0" y="49742"/>
                    </a:lnTo>
                    <a:cubicBezTo>
                      <a:pt x="0" y="36550"/>
                      <a:pt x="5241" y="23898"/>
                      <a:pt x="14569" y="14569"/>
                    </a:cubicBezTo>
                    <a:cubicBezTo>
                      <a:pt x="23898" y="5241"/>
                      <a:pt x="36550" y="0"/>
                      <a:pt x="49742" y="0"/>
                    </a:cubicBezTo>
                    <a:close/>
                  </a:path>
                </a:pathLst>
              </a:custGeom>
              <a:solidFill>
                <a:srgbClr val="C8C6C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949035" cy="427186"/>
              </a:xfrm>
              <a:prstGeom prst="rect">
                <a:avLst/>
              </a:prstGeom>
            </p:spPr>
            <p:txBody>
              <a:bodyPr anchor="ctr" rtlCol="false" tIns="45716" lIns="45716" bIns="45716" rIns="45716"/>
              <a:lstStyle/>
              <a:p>
                <a:pPr algn="ctr">
                  <a:lnSpc>
                    <a:spcPts val="3500"/>
                  </a:lnSpc>
                </a:pPr>
                <a:r>
                  <a:rPr lang="en-US" b="true" sz="2500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Agent training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1290604" y="0"/>
              <a:ext cx="3527861" cy="1375541"/>
              <a:chOff x="0" y="0"/>
              <a:chExt cx="949035" cy="37003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49035" cy="370036"/>
              </a:xfrm>
              <a:custGeom>
                <a:avLst/>
                <a:gdLst/>
                <a:ahLst/>
                <a:cxnLst/>
                <a:rect r="r" b="b" t="t" l="l"/>
                <a:pathLst>
                  <a:path h="370036" w="949035">
                    <a:moveTo>
                      <a:pt x="49742" y="0"/>
                    </a:moveTo>
                    <a:lnTo>
                      <a:pt x="899293" y="0"/>
                    </a:lnTo>
                    <a:cubicBezTo>
                      <a:pt x="912485" y="0"/>
                      <a:pt x="925137" y="5241"/>
                      <a:pt x="934466" y="14569"/>
                    </a:cubicBezTo>
                    <a:cubicBezTo>
                      <a:pt x="943794" y="23898"/>
                      <a:pt x="949035" y="36550"/>
                      <a:pt x="949035" y="49742"/>
                    </a:cubicBezTo>
                    <a:lnTo>
                      <a:pt x="949035" y="320294"/>
                    </a:lnTo>
                    <a:cubicBezTo>
                      <a:pt x="949035" y="333487"/>
                      <a:pt x="943794" y="346139"/>
                      <a:pt x="934466" y="355467"/>
                    </a:cubicBezTo>
                    <a:cubicBezTo>
                      <a:pt x="925137" y="364796"/>
                      <a:pt x="912485" y="370036"/>
                      <a:pt x="899293" y="370036"/>
                    </a:cubicBezTo>
                    <a:lnTo>
                      <a:pt x="49742" y="370036"/>
                    </a:lnTo>
                    <a:cubicBezTo>
                      <a:pt x="36550" y="370036"/>
                      <a:pt x="23898" y="364796"/>
                      <a:pt x="14569" y="355467"/>
                    </a:cubicBezTo>
                    <a:cubicBezTo>
                      <a:pt x="5241" y="346139"/>
                      <a:pt x="0" y="333487"/>
                      <a:pt x="0" y="320294"/>
                    </a:cubicBezTo>
                    <a:lnTo>
                      <a:pt x="0" y="49742"/>
                    </a:lnTo>
                    <a:cubicBezTo>
                      <a:pt x="0" y="36550"/>
                      <a:pt x="5241" y="23898"/>
                      <a:pt x="14569" y="14569"/>
                    </a:cubicBezTo>
                    <a:cubicBezTo>
                      <a:pt x="23898" y="5241"/>
                      <a:pt x="36550" y="0"/>
                      <a:pt x="49742" y="0"/>
                    </a:cubicBezTo>
                    <a:close/>
                  </a:path>
                </a:pathLst>
              </a:custGeom>
              <a:solidFill>
                <a:srgbClr val="0B3B7B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949035" cy="427186"/>
              </a:xfrm>
              <a:prstGeom prst="rect">
                <a:avLst/>
              </a:prstGeom>
            </p:spPr>
            <p:txBody>
              <a:bodyPr anchor="ctr" rtlCol="false" tIns="45716" lIns="45716" bIns="45716" rIns="45716"/>
              <a:lstStyle/>
              <a:p>
                <a:pPr algn="ctr">
                  <a:lnSpc>
                    <a:spcPts val="3500"/>
                  </a:lnSpc>
                </a:pPr>
                <a:r>
                  <a:rPr lang="en-US" b="true" sz="2500">
                    <a:solidFill>
                      <a:srgbClr val="FFFFFF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Test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046542" y="290258"/>
              <a:ext cx="1298860" cy="795024"/>
              <a:chOff x="0" y="0"/>
              <a:chExt cx="983094" cy="60174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83094" cy="601746"/>
              </a:xfrm>
              <a:custGeom>
                <a:avLst/>
                <a:gdLst/>
                <a:ahLst/>
                <a:cxnLst/>
                <a:rect r="r" b="b" t="t" l="l"/>
                <a:pathLst>
                  <a:path h="601746" w="983094">
                    <a:moveTo>
                      <a:pt x="983094" y="300873"/>
                    </a:moveTo>
                    <a:lnTo>
                      <a:pt x="576694" y="0"/>
                    </a:lnTo>
                    <a:lnTo>
                      <a:pt x="576694" y="203200"/>
                    </a:lnTo>
                    <a:lnTo>
                      <a:pt x="0" y="203200"/>
                    </a:lnTo>
                    <a:lnTo>
                      <a:pt x="0" y="398546"/>
                    </a:lnTo>
                    <a:lnTo>
                      <a:pt x="576694" y="398546"/>
                    </a:lnTo>
                    <a:lnTo>
                      <a:pt x="576694" y="601746"/>
                    </a:lnTo>
                    <a:lnTo>
                      <a:pt x="983094" y="300873"/>
                    </a:lnTo>
                    <a:close/>
                  </a:path>
                </a:pathLst>
              </a:custGeom>
              <a:solidFill>
                <a:srgbClr val="677DA2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146050"/>
                <a:ext cx="881494" cy="252496"/>
              </a:xfrm>
              <a:prstGeom prst="rect">
                <a:avLst/>
              </a:prstGeom>
            </p:spPr>
            <p:txBody>
              <a:bodyPr anchor="ctr" rtlCol="false" tIns="45716" lIns="45716" bIns="45716" rIns="45716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619012" y="290258"/>
              <a:ext cx="1298860" cy="795024"/>
              <a:chOff x="0" y="0"/>
              <a:chExt cx="983094" cy="60174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83094" cy="601746"/>
              </a:xfrm>
              <a:custGeom>
                <a:avLst/>
                <a:gdLst/>
                <a:ahLst/>
                <a:cxnLst/>
                <a:rect r="r" b="b" t="t" l="l"/>
                <a:pathLst>
                  <a:path h="601746" w="983094">
                    <a:moveTo>
                      <a:pt x="983094" y="300873"/>
                    </a:moveTo>
                    <a:lnTo>
                      <a:pt x="576694" y="0"/>
                    </a:lnTo>
                    <a:lnTo>
                      <a:pt x="576694" y="203200"/>
                    </a:lnTo>
                    <a:lnTo>
                      <a:pt x="0" y="203200"/>
                    </a:lnTo>
                    <a:lnTo>
                      <a:pt x="0" y="398546"/>
                    </a:lnTo>
                    <a:lnTo>
                      <a:pt x="576694" y="398546"/>
                    </a:lnTo>
                    <a:lnTo>
                      <a:pt x="576694" y="601746"/>
                    </a:lnTo>
                    <a:lnTo>
                      <a:pt x="983094" y="300873"/>
                    </a:lnTo>
                    <a:close/>
                  </a:path>
                </a:pathLst>
              </a:custGeom>
              <a:solidFill>
                <a:srgbClr val="677DA2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146050"/>
                <a:ext cx="881494" cy="252496"/>
              </a:xfrm>
              <a:prstGeom prst="rect">
                <a:avLst/>
              </a:prstGeom>
            </p:spPr>
            <p:txBody>
              <a:bodyPr anchor="ctr" rtlCol="false" tIns="45716" lIns="45716" bIns="45716" rIns="45716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</p:grpSp>
      <p:pic>
        <p:nvPicPr>
          <p:cNvPr name="Picture 25" id="2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2219" r="0" b="0"/>
          <a:stretch>
            <a:fillRect/>
          </a:stretch>
        </p:blipFill>
        <p:spPr>
          <a:xfrm flipH="false" flipV="false" rot="0">
            <a:off x="444805" y="3819980"/>
            <a:ext cx="8497185" cy="46687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 rot="0">
            <a:off x="9753837" y="3044915"/>
            <a:ext cx="7846165" cy="6347873"/>
            <a:chOff x="0" y="0"/>
            <a:chExt cx="10461553" cy="8463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88933" cy="3457572"/>
            </a:xfrm>
            <a:custGeom>
              <a:avLst/>
              <a:gdLst/>
              <a:ahLst/>
              <a:cxnLst/>
              <a:rect r="r" b="b" t="t" l="l"/>
              <a:pathLst>
                <a:path h="3457572" w="4888933">
                  <a:moveTo>
                    <a:pt x="0" y="0"/>
                  </a:moveTo>
                  <a:lnTo>
                    <a:pt x="4888933" y="0"/>
                  </a:lnTo>
                  <a:lnTo>
                    <a:pt x="4888933" y="3457572"/>
                  </a:lnTo>
                  <a:lnTo>
                    <a:pt x="0" y="3457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794186" y="0"/>
              <a:ext cx="4667367" cy="3295302"/>
            </a:xfrm>
            <a:custGeom>
              <a:avLst/>
              <a:gdLst/>
              <a:ahLst/>
              <a:cxnLst/>
              <a:rect r="r" b="b" t="t" l="l"/>
              <a:pathLst>
                <a:path h="3295302" w="4667367">
                  <a:moveTo>
                    <a:pt x="0" y="0"/>
                  </a:moveTo>
                  <a:lnTo>
                    <a:pt x="4667367" y="0"/>
                  </a:lnTo>
                  <a:lnTo>
                    <a:pt x="4667367" y="3295302"/>
                  </a:lnTo>
                  <a:lnTo>
                    <a:pt x="0" y="3295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5761350" y="4299449"/>
              <a:ext cx="4700203" cy="3321948"/>
            </a:xfrm>
            <a:custGeom>
              <a:avLst/>
              <a:gdLst/>
              <a:ahLst/>
              <a:cxnLst/>
              <a:rect r="r" b="b" t="t" l="l"/>
              <a:pathLst>
                <a:path h="3321948" w="4700203">
                  <a:moveTo>
                    <a:pt x="0" y="0"/>
                  </a:moveTo>
                  <a:lnTo>
                    <a:pt x="4700203" y="0"/>
                  </a:lnTo>
                  <a:lnTo>
                    <a:pt x="4700203" y="3321949"/>
                  </a:lnTo>
                  <a:lnTo>
                    <a:pt x="0" y="33219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2657" y="4299449"/>
              <a:ext cx="4783618" cy="3376316"/>
            </a:xfrm>
            <a:custGeom>
              <a:avLst/>
              <a:gdLst/>
              <a:ahLst/>
              <a:cxnLst/>
              <a:rect r="r" b="b" t="t" l="l"/>
              <a:pathLst>
                <a:path h="3376316" w="4783618">
                  <a:moveTo>
                    <a:pt x="0" y="0"/>
                  </a:moveTo>
                  <a:lnTo>
                    <a:pt x="4783618" y="0"/>
                  </a:lnTo>
                  <a:lnTo>
                    <a:pt x="4783618" y="3376317"/>
                  </a:lnTo>
                  <a:lnTo>
                    <a:pt x="0" y="33763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1600644" y="7916673"/>
              <a:ext cx="1687645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Velocity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573237" y="3409391"/>
              <a:ext cx="1109266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Steer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7037588" y="7916673"/>
              <a:ext cx="2180564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Yaw Angle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891223" y="3409391"/>
              <a:ext cx="1106488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Accel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018365" y="2729383"/>
            <a:ext cx="3820840" cy="564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9"/>
              </a:lnSpc>
              <a:spcBef>
                <a:spcPct val="0"/>
              </a:spcBef>
            </a:pPr>
            <a:r>
              <a:rPr lang="en-US" b="true" sz="332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카메라 고장 상황 부여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-1580300" y="374724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Flow Chart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101254" y="6451433"/>
            <a:ext cx="5383620" cy="3156147"/>
          </a:xfrm>
          <a:custGeom>
            <a:avLst/>
            <a:gdLst/>
            <a:ahLst/>
            <a:cxnLst/>
            <a:rect r="r" b="b" t="t" l="l"/>
            <a:pathLst>
              <a:path h="3156147" w="5383620">
                <a:moveTo>
                  <a:pt x="0" y="0"/>
                </a:moveTo>
                <a:lnTo>
                  <a:pt x="5383619" y="0"/>
                </a:lnTo>
                <a:lnTo>
                  <a:pt x="5383619" y="3156147"/>
                </a:lnTo>
                <a:lnTo>
                  <a:pt x="0" y="31561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1642806" y="345707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기대 효과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856146" y="3519709"/>
            <a:ext cx="2670647" cy="2670647"/>
          </a:xfrm>
          <a:custGeom>
            <a:avLst/>
            <a:gdLst/>
            <a:ahLst/>
            <a:cxnLst/>
            <a:rect r="r" b="b" t="t" l="l"/>
            <a:pathLst>
              <a:path h="2670647" w="2670647">
                <a:moveTo>
                  <a:pt x="0" y="0"/>
                </a:moveTo>
                <a:lnTo>
                  <a:pt x="2670647" y="0"/>
                </a:lnTo>
                <a:lnTo>
                  <a:pt x="2670647" y="2670648"/>
                </a:lnTo>
                <a:lnTo>
                  <a:pt x="0" y="2670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21752" y="2653234"/>
            <a:ext cx="1710021" cy="467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9"/>
              </a:lnSpc>
              <a:spcBef>
                <a:spcPct val="0"/>
              </a:spcBef>
            </a:pPr>
            <a:r>
              <a:rPr lang="en-US" b="true" sz="2771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기술적 기여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147028" y="6589415"/>
            <a:ext cx="2088883" cy="3018165"/>
            <a:chOff x="0" y="0"/>
            <a:chExt cx="2785177" cy="40242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1239043"/>
              <a:ext cx="2785177" cy="2785177"/>
            </a:xfrm>
            <a:custGeom>
              <a:avLst/>
              <a:gdLst/>
              <a:ahLst/>
              <a:cxnLst/>
              <a:rect r="r" b="b" t="t" l="l"/>
              <a:pathLst>
                <a:path h="2785177" w="2785177">
                  <a:moveTo>
                    <a:pt x="0" y="0"/>
                  </a:moveTo>
                  <a:lnTo>
                    <a:pt x="2785177" y="0"/>
                  </a:lnTo>
                  <a:lnTo>
                    <a:pt x="2785177" y="2785177"/>
                  </a:lnTo>
                  <a:lnTo>
                    <a:pt x="0" y="27851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240659" y="-57150"/>
              <a:ext cx="2303859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안전성 증대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99711" y="2700859"/>
            <a:ext cx="2226283" cy="3074433"/>
            <a:chOff x="0" y="0"/>
            <a:chExt cx="2968378" cy="40992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1130866"/>
              <a:ext cx="2968378" cy="2968378"/>
            </a:xfrm>
            <a:custGeom>
              <a:avLst/>
              <a:gdLst/>
              <a:ahLst/>
              <a:cxnLst/>
              <a:rect r="r" b="b" t="t" l="l"/>
              <a:pathLst>
                <a:path h="2968378" w="2968378">
                  <a:moveTo>
                    <a:pt x="0" y="0"/>
                  </a:moveTo>
                  <a:lnTo>
                    <a:pt x="2968378" y="0"/>
                  </a:lnTo>
                  <a:lnTo>
                    <a:pt x="2968378" y="2968378"/>
                  </a:lnTo>
                  <a:lnTo>
                    <a:pt x="0" y="2968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261747" y="-57150"/>
              <a:ext cx="2303859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B3B7B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확장 가능성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761" y="9392789"/>
            <a:ext cx="18359286" cy="969555"/>
            <a:chOff x="0" y="0"/>
            <a:chExt cx="24479049" cy="1292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0838309" y="359778"/>
              <a:ext cx="3640740" cy="832504"/>
            </a:xfrm>
            <a:custGeom>
              <a:avLst/>
              <a:gdLst/>
              <a:ahLst/>
              <a:cxnLst/>
              <a:rect r="r" b="b" t="t" l="l"/>
              <a:pathLst>
                <a:path h="832504" w="3640740">
                  <a:moveTo>
                    <a:pt x="0" y="0"/>
                  </a:moveTo>
                  <a:lnTo>
                    <a:pt x="3640740" y="0"/>
                  </a:lnTo>
                  <a:lnTo>
                    <a:pt x="3640740" y="832504"/>
                  </a:lnTo>
                  <a:lnTo>
                    <a:pt x="0" y="8325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229240" y="321678"/>
              <a:ext cx="2068305" cy="674785"/>
            </a:xfrm>
            <a:custGeom>
              <a:avLst/>
              <a:gdLst/>
              <a:ahLst/>
              <a:cxnLst/>
              <a:rect r="r" b="b" t="t" l="l"/>
              <a:pathLst>
                <a:path h="674785" w="2068305">
                  <a:moveTo>
                    <a:pt x="0" y="0"/>
                  </a:moveTo>
                  <a:lnTo>
                    <a:pt x="2068305" y="0"/>
                  </a:lnTo>
                  <a:lnTo>
                    <a:pt x="2068305" y="674784"/>
                  </a:lnTo>
                  <a:lnTo>
                    <a:pt x="0" y="674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92740" cy="1292740"/>
            </a:xfrm>
            <a:custGeom>
              <a:avLst/>
              <a:gdLst/>
              <a:ahLst/>
              <a:cxnLst/>
              <a:rect r="r" b="b" t="t" l="l"/>
              <a:pathLst>
                <a:path h="1292740" w="1292740">
                  <a:moveTo>
                    <a:pt x="0" y="0"/>
                  </a:moveTo>
                  <a:lnTo>
                    <a:pt x="1292740" y="0"/>
                  </a:lnTo>
                  <a:lnTo>
                    <a:pt x="1292740" y="1292740"/>
                  </a:lnTo>
                  <a:lnTo>
                    <a:pt x="0" y="1292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569" y="1972385"/>
            <a:ext cx="8430431" cy="47625"/>
            <a:chOff x="0" y="0"/>
            <a:chExt cx="2220360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0360" cy="12543"/>
            </a:xfrm>
            <a:custGeom>
              <a:avLst/>
              <a:gdLst/>
              <a:ahLst/>
              <a:cxnLst/>
              <a:rect r="r" b="b" t="t" l="l"/>
              <a:pathLst>
                <a:path h="12543" w="2220360">
                  <a:moveTo>
                    <a:pt x="0" y="0"/>
                  </a:moveTo>
                  <a:lnTo>
                    <a:pt x="2220360" y="0"/>
                  </a:lnTo>
                  <a:lnTo>
                    <a:pt x="2220360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22C5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20360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1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51031" y="2726691"/>
            <a:ext cx="16398240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필수 툴박스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MATLAB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Simulink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Road runner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(향후 Real에 가까운 데이터 수집에 사용)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주요 기능 툴박스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Driving Scenario Designer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시뮬레이션을 위한 주행 환경을 만들고 정의하는 데 사용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Automated Driving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주행 시나리오 생성, 센서 모델, 센서 융합 및 추적 알고리즘을 제공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Computer Vision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3D 공간 해석과 객체 인식에 사용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Image Processing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이미지의 화질 개선과 필터링에 사용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Simulink Control Design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: 제어 시스템을 분석하고 튜닝하는 데 사용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Reinforcement Learning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강화학습을 위해 사용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B3B7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Parallel Computing Toolbox : </a:t>
            </a:r>
            <a:r>
              <a:rPr lang="en-US" sz="2799">
                <a:solidFill>
                  <a:srgbClr val="0B3B7B"/>
                </a:solidFill>
                <a:latin typeface="Open Sans"/>
                <a:ea typeface="Open Sans"/>
                <a:cs typeface="Open Sans"/>
                <a:sym typeface="Open Sans"/>
              </a:rPr>
              <a:t>Agent 학습을 위해 사용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1642806" y="345707"/>
            <a:ext cx="9144000" cy="1473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39"/>
              </a:lnSpc>
            </a:pPr>
            <a:r>
              <a:rPr lang="en-US" b="true" sz="7599" spc="-379">
                <a:solidFill>
                  <a:srgbClr val="0B3B7B"/>
                </a:solidFill>
                <a:latin typeface="Gothic A1 Ultra-Bold"/>
                <a:ea typeface="Gothic A1 Ultra-Bold"/>
                <a:cs typeface="Gothic A1 Ultra-Bold"/>
                <a:sym typeface="Gothic A1 Ultra-Bold"/>
              </a:rPr>
              <a:t>Tool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DAGuo3Nm17E</dc:identifier>
  <dcterms:modified xsi:type="dcterms:W3CDTF">2011-08-01T06:04:30Z</dcterms:modified>
  <cp:revision>1</cp:revision>
  <dc:title>강화학습을 활용한 고장허용 자율주행 제어기</dc:title>
</cp:coreProperties>
</file>